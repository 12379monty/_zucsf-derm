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79" r:id="rId5"/>
    <p:sldId id="280" r:id="rId6"/>
    <p:sldId id="28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CG Admi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D663F"/>
    <a:srgbClr val="6A737B"/>
    <a:srgbClr val="005596"/>
    <a:srgbClr val="ADD392"/>
    <a:srgbClr val="51A700"/>
    <a:srgbClr val="60BD00"/>
    <a:srgbClr val="285315"/>
    <a:srgbClr val="195315"/>
    <a:srgbClr val="2453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>
      <p:cViewPr>
        <p:scale>
          <a:sx n="81" d="100"/>
          <a:sy n="81" d="100"/>
        </p:scale>
        <p:origin x="-634" y="-2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04A25-08A2-C34E-B1E2-6C60263A21D1}" type="datetimeFigureOut">
              <a:rPr lang="en-US" smtClean="0"/>
              <a:t>6/13/2012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EC2CA-5FBB-3C47-A29D-1774684B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471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50C4C-5501-5F41-8268-DC3216A07671}" type="datetimeFigureOut">
              <a:rPr lang="en-US" smtClean="0"/>
              <a:t>6/13/2012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59A9F-3B11-0A4F-893C-D31C4A84D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251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A59A9F-3B11-0A4F-893C-D31C4A84DE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5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plash page 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261" y="2540000"/>
            <a:ext cx="5733479" cy="175265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5000">
                <a:srgbClr val="285315"/>
              </a:gs>
              <a:gs pos="100000">
                <a:srgbClr val="5BB232"/>
              </a:gs>
              <a:gs pos="70000">
                <a:srgbClr val="60BD00"/>
              </a:gs>
              <a:gs pos="33000">
                <a:srgbClr val="3D7D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g_colored.png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28" r="32128" b="2625"/>
          <a:stretch/>
        </p:blipFill>
        <p:spPr>
          <a:xfrm>
            <a:off x="2595044" y="245532"/>
            <a:ext cx="3953912" cy="6590245"/>
          </a:xfrm>
          <a:prstGeom prst="rect">
            <a:avLst/>
          </a:prstGeom>
        </p:spPr>
      </p:pic>
      <p:pic>
        <p:nvPicPr>
          <p:cNvPr id="8" name="Picture 7" descr="splash page 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261" y="2540000"/>
            <a:ext cx="5733479" cy="175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901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17506"/>
            <a:ext cx="9144000" cy="6875505"/>
          </a:xfrm>
          <a:prstGeom prst="rect">
            <a:avLst/>
          </a:prstGeom>
          <a:gradFill>
            <a:gsLst>
              <a:gs pos="5000">
                <a:srgbClr val="285315"/>
              </a:gs>
              <a:gs pos="100000">
                <a:srgbClr val="5BB232"/>
              </a:gs>
              <a:gs pos="70000">
                <a:srgbClr val="60BD00"/>
              </a:gs>
              <a:gs pos="33000">
                <a:srgbClr val="3D7D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g_colore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28" r="32127" b="2625"/>
          <a:stretch>
            <a:fillRect/>
          </a:stretch>
        </p:blipFill>
        <p:spPr bwMode="auto">
          <a:xfrm>
            <a:off x="5605463" y="0"/>
            <a:ext cx="3470275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7862" y="3827505"/>
            <a:ext cx="8090338" cy="543739"/>
          </a:xfrm>
        </p:spPr>
        <p:txBody>
          <a:bodyPr anchor="b" anchorCtr="0">
            <a:spAutoFit/>
          </a:bodyPr>
          <a:lstStyle>
            <a:lvl1pPr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Insert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7862" y="4514850"/>
            <a:ext cx="7404538" cy="2038350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ADD39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Speakers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663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17506"/>
            <a:ext cx="9144000" cy="6875505"/>
          </a:xfrm>
          <a:prstGeom prst="rect">
            <a:avLst/>
          </a:prstGeom>
          <a:gradFill>
            <a:gsLst>
              <a:gs pos="5000">
                <a:srgbClr val="285315"/>
              </a:gs>
              <a:gs pos="100000">
                <a:srgbClr val="5BB232"/>
              </a:gs>
              <a:gs pos="70000">
                <a:srgbClr val="60BD00"/>
              </a:gs>
              <a:gs pos="33000">
                <a:srgbClr val="3D7D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7862" y="4495800"/>
            <a:ext cx="8079784" cy="487313"/>
          </a:xfrm>
        </p:spPr>
        <p:txBody>
          <a:bodyPr wrap="square" anchor="b" anchorCtr="0">
            <a:sp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section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5105400"/>
            <a:ext cx="7404100" cy="138638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ADD392"/>
                </a:solidFill>
              </a:defRPr>
            </a:lvl1pPr>
          </a:lstStyle>
          <a:p>
            <a:pPr lvl="0"/>
            <a:r>
              <a:rPr lang="en-US"/>
              <a:t>Click to 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4698197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0" y="6188525"/>
            <a:ext cx="544624" cy="66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362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1725222"/>
            <a:ext cx="8229600" cy="4370778"/>
          </a:xfrm>
        </p:spPr>
        <p:txBody>
          <a:bodyPr/>
          <a:lstStyle>
            <a:lvl1pPr>
              <a:defRPr>
                <a:solidFill>
                  <a:srgbClr val="3B3B3B"/>
                </a:solidFill>
              </a:defRPr>
            </a:lvl1pPr>
            <a:lvl2pPr>
              <a:defRPr>
                <a:solidFill>
                  <a:srgbClr val="3B3B3B"/>
                </a:solidFill>
              </a:defRPr>
            </a:lvl2pPr>
            <a:lvl3pPr>
              <a:defRPr>
                <a:solidFill>
                  <a:srgbClr val="3B3B3B"/>
                </a:solidFill>
              </a:defRPr>
            </a:lvl3pPr>
            <a:lvl4pPr>
              <a:defRPr>
                <a:solidFill>
                  <a:srgbClr val="3B3B3B"/>
                </a:solidFill>
              </a:defRPr>
            </a:lvl4pPr>
            <a:lvl5pPr>
              <a:defRPr>
                <a:solidFill>
                  <a:srgbClr val="3B3B3B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1066800"/>
            <a:ext cx="8229600" cy="59609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000" b="1">
                <a:solidFill>
                  <a:srgbClr val="5B677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0" y="6188525"/>
            <a:ext cx="544624" cy="66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5911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0" y="6188525"/>
            <a:ext cx="544624" cy="66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57200" y="1219200"/>
            <a:ext cx="4038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>
          <a:xfrm>
            <a:off x="4648200" y="1219200"/>
            <a:ext cx="4038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8426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1454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55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GEN_Corp_Logo_RGB_REV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173" y="6392894"/>
            <a:ext cx="1506627" cy="3295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188525"/>
            <a:ext cx="9143999" cy="669474"/>
          </a:xfrm>
          <a:prstGeom prst="rect">
            <a:avLst/>
          </a:prstGeom>
          <a:gradFill>
            <a:gsLst>
              <a:gs pos="5000">
                <a:srgbClr val="285315"/>
              </a:gs>
              <a:gs pos="100000">
                <a:srgbClr val="5BB232"/>
              </a:gs>
              <a:gs pos="70000">
                <a:srgbClr val="51A700"/>
              </a:gs>
              <a:gs pos="33000">
                <a:srgbClr val="3D7D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938"/>
            <a:ext cx="8083993" cy="885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2520"/>
            <a:ext cx="8229600" cy="4863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0" y="6188525"/>
            <a:ext cx="544624" cy="66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1032" y="1029339"/>
            <a:ext cx="9082968" cy="0"/>
          </a:xfrm>
          <a:prstGeom prst="line">
            <a:avLst/>
          </a:prstGeom>
          <a:ln w="19050" cmpd="sng">
            <a:solidFill>
              <a:srgbClr val="64A70B"/>
            </a:solidFill>
            <a:prstDash val="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G.png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5"/>
          <a:stretch/>
        </p:blipFill>
        <p:spPr>
          <a:xfrm>
            <a:off x="8541193" y="68937"/>
            <a:ext cx="602807" cy="92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5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62" r:id="rId3"/>
    <p:sldLayoutId id="2147483650" r:id="rId4"/>
    <p:sldLayoutId id="2147483660" r:id="rId5"/>
    <p:sldLayoutId id="2147483652" r:id="rId6"/>
    <p:sldLayoutId id="2147483654" r:id="rId7"/>
    <p:sldLayoutId id="2147483655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3"/>
          </a:solidFill>
          <a:latin typeface="Arial"/>
          <a:ea typeface="+mj-ea"/>
          <a:cs typeface="Arial"/>
        </a:defRPr>
      </a:lvl1pPr>
    </p:titleStyle>
    <p:bodyStyle>
      <a:lvl1pPr marL="169863" indent="-169863" algn="l" defTabSz="457200" rtl="0" eaLnBrk="1" latinLnBrk="0" hangingPunct="1">
        <a:lnSpc>
          <a:spcPct val="90000"/>
        </a:lnSpc>
        <a:spcBef>
          <a:spcPts val="800"/>
        </a:spcBef>
        <a:buClr>
          <a:srgbClr val="64A70B"/>
        </a:buClr>
        <a:buFont typeface="Arial"/>
        <a:buChar char="•"/>
        <a:defRPr sz="2300" kern="1200">
          <a:solidFill>
            <a:schemeClr val="tx1"/>
          </a:solidFill>
          <a:latin typeface="Arial"/>
          <a:ea typeface="+mn-ea"/>
          <a:cs typeface="Arial"/>
        </a:defRPr>
      </a:lvl1pPr>
      <a:lvl2pPr marL="347663" indent="-177800" algn="l" defTabSz="457200" rtl="0" eaLnBrk="1" latinLnBrk="0" hangingPunct="1">
        <a:lnSpc>
          <a:spcPct val="90000"/>
        </a:lnSpc>
        <a:spcBef>
          <a:spcPts val="800"/>
        </a:spcBef>
        <a:buClr>
          <a:srgbClr val="64A70B"/>
        </a:buClr>
        <a:buFont typeface="Arial"/>
        <a:buChar char="•"/>
        <a:defRPr sz="1900" kern="1200">
          <a:solidFill>
            <a:schemeClr val="tx1"/>
          </a:solidFill>
          <a:latin typeface="Arial"/>
          <a:ea typeface="+mn-ea"/>
          <a:cs typeface="Arial"/>
        </a:defRPr>
      </a:lvl2pPr>
      <a:lvl3pPr marL="515938" indent="-168275" algn="l" defTabSz="457200" rtl="0" eaLnBrk="1" latinLnBrk="0" hangingPunct="1">
        <a:lnSpc>
          <a:spcPct val="90000"/>
        </a:lnSpc>
        <a:spcBef>
          <a:spcPts val="600"/>
        </a:spcBef>
        <a:buClr>
          <a:srgbClr val="64A70B"/>
        </a:buClr>
        <a:buFont typeface="Arial"/>
        <a:buChar char="•"/>
        <a:defRPr sz="1700" kern="1200">
          <a:solidFill>
            <a:schemeClr val="tx1"/>
          </a:solidFill>
          <a:latin typeface="Arial"/>
          <a:ea typeface="+mn-ea"/>
          <a:cs typeface="Arial"/>
        </a:defRPr>
      </a:lvl3pPr>
      <a:lvl4pPr marL="685800" indent="-169863" algn="l" defTabSz="457200" rtl="0" eaLnBrk="1" latinLnBrk="0" hangingPunct="1">
        <a:lnSpc>
          <a:spcPct val="90000"/>
        </a:lnSpc>
        <a:spcBef>
          <a:spcPts val="400"/>
        </a:spcBef>
        <a:buClr>
          <a:srgbClr val="64A70B"/>
        </a:buClr>
        <a:buFont typeface="Arial"/>
        <a:buChar char="–"/>
        <a:defRPr sz="1700" kern="1200">
          <a:solidFill>
            <a:schemeClr val="tx1"/>
          </a:solidFill>
          <a:latin typeface="Arial"/>
          <a:ea typeface="+mn-ea"/>
          <a:cs typeface="Arial"/>
        </a:defRPr>
      </a:lvl4pPr>
      <a:lvl5pPr marL="855663" indent="-169863" algn="l" defTabSz="457200" rtl="0" eaLnBrk="1" latinLnBrk="0" hangingPunct="1">
        <a:lnSpc>
          <a:spcPct val="90000"/>
        </a:lnSpc>
        <a:spcBef>
          <a:spcPct val="20000"/>
        </a:spcBef>
        <a:buClr>
          <a:srgbClr val="64A70B"/>
        </a:buClr>
        <a:buFont typeface="Arial"/>
        <a:buChar char="»"/>
        <a:defRPr sz="14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OmicsTalk_References/Kim&amp;Simon_2011.pdf" TargetMode="External"/><Relationship Id="rId3" Type="http://schemas.openxmlformats.org/officeDocument/2006/relationships/hyperlink" Target="OmicsTalk_References/Baggerly_2004.pdf" TargetMode="External"/><Relationship Id="rId7" Type="http://schemas.openxmlformats.org/officeDocument/2006/relationships/hyperlink" Target="OmicsTalk_References/IOM_Omics.pdf" TargetMode="External"/><Relationship Id="rId2" Type="http://schemas.openxmlformats.org/officeDocument/2006/relationships/hyperlink" Target="file:///C:\Users\fcollin\Desktop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file:///\\FileShare\Public\R&amp;D\FCollin\Omics\OmicsTalk_References\ESL.rtf" TargetMode="External"/><Relationship Id="rId5" Type="http://schemas.openxmlformats.org/officeDocument/2006/relationships/hyperlink" Target="OmicsTalk_References/Baggerly_2009.pdf" TargetMode="External"/><Relationship Id="rId10" Type="http://schemas.openxmlformats.org/officeDocument/2006/relationships/hyperlink" Target="OmicsTalk_References/Petricoin_2002.pdf" TargetMode="External"/><Relationship Id="rId4" Type="http://schemas.openxmlformats.org/officeDocument/2006/relationships/hyperlink" Target="OmicsTalk_References/Baggerly_2005.pdf" TargetMode="External"/><Relationship Id="rId9" Type="http://schemas.openxmlformats.org/officeDocument/2006/relationships/hyperlink" Target="OmicsTalk_References/Kim&amp;Simon_2011_Supp.pdf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OmicsTalk_References/Villanueva_2006.pdf" TargetMode="External"/><Relationship Id="rId3" Type="http://schemas.openxmlformats.org/officeDocument/2006/relationships/hyperlink" Target="OmicsTalk_References/Simon_2003.pdf" TargetMode="External"/><Relationship Id="rId7" Type="http://schemas.openxmlformats.org/officeDocument/2006/relationships/hyperlink" Target="OmicsTalk_References/Varma&amp;Simon_BMC_Bio06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OmicsTalk_References/Teutsch_2009.pdf" TargetMode="External"/><Relationship Id="rId5" Type="http://schemas.openxmlformats.org/officeDocument/2006/relationships/hyperlink" Target="OmicsTalk_References/Simon_2009.pdf" TargetMode="External"/><Relationship Id="rId4" Type="http://schemas.openxmlformats.org/officeDocument/2006/relationships/hyperlink" Target="OmicsTalk_References/Simon_2003_supp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05400"/>
          </a:xfrm>
        </p:spPr>
        <p:txBody>
          <a:bodyPr>
            <a:noAutofit/>
          </a:bodyPr>
          <a:lstStyle/>
          <a:p>
            <a:r>
              <a:rPr lang="en-US" sz="1200" dirty="0" smtClean="0">
                <a:latin typeface="+mn-lt"/>
                <a:hlinkClick r:id="rId2" action="ppaction://hlinkfile"/>
              </a:rPr>
              <a:t>ASCO </a:t>
            </a:r>
            <a:r>
              <a:rPr lang="en-US" sz="1200" dirty="0" smtClean="0">
                <a:latin typeface="+mn-lt"/>
                <a:hlinkClick r:id="rId2" action="ppaction://hlinkfile"/>
              </a:rPr>
              <a:t>2012 Meeting Session: New </a:t>
            </a:r>
            <a:r>
              <a:rPr lang="en-US" sz="1200" dirty="0">
                <a:latin typeface="+mn-lt"/>
                <a:hlinkClick r:id="rId2" action="ppaction://hlinkfile"/>
              </a:rPr>
              <a:t>Diagnostics and Devices in the Era of Comparative </a:t>
            </a:r>
            <a:r>
              <a:rPr lang="en-US" sz="1200" dirty="0" smtClean="0">
                <a:latin typeface="+mn-lt"/>
                <a:hlinkClick r:id="rId2" action="ppaction://hlinkfile"/>
              </a:rPr>
              <a:t>Effectiveness</a:t>
            </a:r>
            <a:r>
              <a:rPr lang="en-US" sz="1200" dirty="0">
                <a:latin typeface="+mn-lt"/>
                <a:hlinkClick r:id="rId2" action="ppaction://hlinkfile"/>
              </a:rPr>
              <a:t>, </a:t>
            </a:r>
            <a:r>
              <a:rPr lang="en-US" sz="1200" dirty="0" smtClean="0">
                <a:latin typeface="+mn-lt"/>
                <a:hlinkClick r:id="rId2" action="ppaction://hlinkfile"/>
              </a:rPr>
              <a:t>Daniel F. Hayes, MD, chair</a:t>
            </a:r>
            <a:r>
              <a:rPr lang="en-US" sz="1200" dirty="0" smtClean="0">
                <a:latin typeface="+mn-lt"/>
              </a:rPr>
              <a:t>.</a:t>
            </a:r>
          </a:p>
          <a:p>
            <a:r>
              <a:rPr lang="en-US" sz="1200" b="1" i="1" dirty="0" smtClean="0">
                <a:latin typeface="+mn-lt"/>
              </a:rPr>
              <a:t>Reproducibility </a:t>
            </a:r>
            <a:r>
              <a:rPr lang="en-US" sz="1200" b="1" i="1" dirty="0">
                <a:latin typeface="+mn-lt"/>
              </a:rPr>
              <a:t>of SELDI-TOF protein patterns </a:t>
            </a:r>
            <a:r>
              <a:rPr lang="en-US" sz="1200" b="1" i="1" dirty="0" smtClean="0">
                <a:latin typeface="+mn-lt"/>
              </a:rPr>
              <a:t>in serum</a:t>
            </a:r>
            <a:r>
              <a:rPr lang="en-US" sz="1200" b="1" i="1" dirty="0">
                <a:latin typeface="+mn-lt"/>
              </a:rPr>
              <a:t>: comparing datasets from </a:t>
            </a:r>
            <a:r>
              <a:rPr lang="en-US" sz="1200" b="1" i="1" dirty="0" smtClean="0">
                <a:latin typeface="+mn-lt"/>
              </a:rPr>
              <a:t>different experiments, </a:t>
            </a:r>
            <a:r>
              <a:rPr lang="en-US" sz="1200" i="1" dirty="0" smtClean="0">
                <a:latin typeface="+mn-lt"/>
              </a:rPr>
              <a:t>Keith </a:t>
            </a:r>
            <a:r>
              <a:rPr lang="en-US" sz="1200" i="1" dirty="0">
                <a:latin typeface="+mn-lt"/>
              </a:rPr>
              <a:t>A. </a:t>
            </a:r>
            <a:r>
              <a:rPr lang="en-US" sz="1200" i="1" dirty="0" err="1">
                <a:latin typeface="+mn-lt"/>
              </a:rPr>
              <a:t>Baggerly</a:t>
            </a:r>
            <a:r>
              <a:rPr lang="en-US" sz="1200" i="1" dirty="0">
                <a:latin typeface="+mn-lt"/>
              </a:rPr>
              <a:t>∗, Jeffrey S. Morris and Kevin R. </a:t>
            </a:r>
            <a:r>
              <a:rPr lang="en-US" sz="1200" i="1" dirty="0" err="1" smtClean="0">
                <a:latin typeface="+mn-lt"/>
              </a:rPr>
              <a:t>Coombes</a:t>
            </a:r>
            <a:r>
              <a:rPr lang="en-US" sz="1200" i="1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  <a:hlinkClick r:id="rId3" action="ppaction://hlinkfile"/>
              </a:rPr>
              <a:t> </a:t>
            </a:r>
            <a:r>
              <a:rPr lang="pt-BR" sz="1200" b="1" i="1" dirty="0">
                <a:latin typeface="+mn-lt"/>
              </a:rPr>
              <a:t>BIOINFORMATICS </a:t>
            </a:r>
            <a:r>
              <a:rPr lang="pt-BR" sz="1200" i="1" dirty="0">
                <a:latin typeface="+mn-lt"/>
              </a:rPr>
              <a:t>Vol. 20 no. 5 2004, pages </a:t>
            </a:r>
            <a:r>
              <a:rPr lang="pt-BR" sz="1200" i="1" dirty="0" smtClean="0">
                <a:latin typeface="+mn-lt"/>
              </a:rPr>
              <a:t>777–785, </a:t>
            </a:r>
            <a:r>
              <a:rPr lang="en-US" sz="1200" i="1" dirty="0" smtClean="0">
                <a:latin typeface="+mn-lt"/>
              </a:rPr>
              <a:t>DOI</a:t>
            </a:r>
            <a:r>
              <a:rPr lang="en-US" sz="1200" i="1" dirty="0">
                <a:latin typeface="+mn-lt"/>
              </a:rPr>
              <a:t>: </a:t>
            </a:r>
            <a:r>
              <a:rPr lang="en-US" sz="1200" i="1" dirty="0" smtClean="0">
                <a:latin typeface="+mn-lt"/>
              </a:rPr>
              <a:t>10.1093/bioinformatics/btg484 </a:t>
            </a:r>
            <a:r>
              <a:rPr lang="en-US" sz="1200" dirty="0" smtClean="0">
                <a:latin typeface="+mn-lt"/>
                <a:hlinkClick r:id="rId3" action="ppaction://hlinkfile"/>
              </a:rPr>
              <a:t>PDF</a:t>
            </a:r>
            <a:endParaRPr lang="en-US" sz="1200" dirty="0" smtClean="0">
              <a:latin typeface="+mn-lt"/>
            </a:endParaRPr>
          </a:p>
          <a:p>
            <a:r>
              <a:rPr lang="en-US" sz="1200" b="1" dirty="0" smtClean="0">
                <a:latin typeface="+mn-lt"/>
              </a:rPr>
              <a:t>Signal </a:t>
            </a:r>
            <a:r>
              <a:rPr lang="en-US" sz="1200" b="1" dirty="0">
                <a:latin typeface="+mn-lt"/>
              </a:rPr>
              <a:t>in Noise: </a:t>
            </a:r>
            <a:r>
              <a:rPr lang="en-US" sz="1200" b="1" dirty="0" smtClean="0">
                <a:latin typeface="+mn-lt"/>
              </a:rPr>
              <a:t>Evaluating Reported </a:t>
            </a:r>
            <a:r>
              <a:rPr lang="en-US" sz="1200" b="1" dirty="0">
                <a:latin typeface="+mn-lt"/>
              </a:rPr>
              <a:t>Reproducibility </a:t>
            </a:r>
            <a:r>
              <a:rPr lang="en-US" sz="1200" b="1" dirty="0" smtClean="0">
                <a:latin typeface="+mn-lt"/>
              </a:rPr>
              <a:t>of Serum </a:t>
            </a:r>
            <a:r>
              <a:rPr lang="en-US" sz="1200" b="1" dirty="0">
                <a:latin typeface="+mn-lt"/>
              </a:rPr>
              <a:t>Proteomic Tests </a:t>
            </a:r>
            <a:r>
              <a:rPr lang="en-US" sz="1200" b="1" dirty="0" smtClean="0">
                <a:latin typeface="+mn-lt"/>
              </a:rPr>
              <a:t>for Ovarian Cancer.  </a:t>
            </a:r>
            <a:r>
              <a:rPr lang="en-US" sz="1200" i="1" dirty="0" smtClean="0">
                <a:latin typeface="+mn-lt"/>
              </a:rPr>
              <a:t>Keith </a:t>
            </a:r>
            <a:r>
              <a:rPr lang="en-US" sz="1200" i="1" dirty="0">
                <a:latin typeface="+mn-lt"/>
              </a:rPr>
              <a:t>A. </a:t>
            </a:r>
            <a:r>
              <a:rPr lang="en-US" sz="1200" i="1" dirty="0" err="1">
                <a:latin typeface="+mn-lt"/>
              </a:rPr>
              <a:t>Baggerly</a:t>
            </a:r>
            <a:r>
              <a:rPr lang="en-US" sz="1200" i="1" dirty="0">
                <a:latin typeface="+mn-lt"/>
              </a:rPr>
              <a:t> , </a:t>
            </a:r>
            <a:r>
              <a:rPr lang="en-US" sz="1200" i="1" dirty="0" smtClean="0">
                <a:latin typeface="+mn-lt"/>
              </a:rPr>
              <a:t>Jeffrey S</a:t>
            </a:r>
            <a:r>
              <a:rPr lang="en-US" sz="1200" i="1" dirty="0">
                <a:latin typeface="+mn-lt"/>
              </a:rPr>
              <a:t>. </a:t>
            </a:r>
            <a:r>
              <a:rPr lang="en-US" sz="1200" i="1" dirty="0" smtClean="0">
                <a:latin typeface="+mn-lt"/>
              </a:rPr>
              <a:t>Morris, </a:t>
            </a:r>
            <a:r>
              <a:rPr lang="en-US" sz="1200" i="1" dirty="0">
                <a:latin typeface="+mn-lt"/>
              </a:rPr>
              <a:t>Sarah R. </a:t>
            </a:r>
            <a:r>
              <a:rPr lang="en-US" sz="1200" i="1" dirty="0" smtClean="0">
                <a:latin typeface="+mn-lt"/>
              </a:rPr>
              <a:t>Edmonson, Kevin </a:t>
            </a:r>
            <a:r>
              <a:rPr lang="en-US" sz="1200" i="1" dirty="0">
                <a:latin typeface="+mn-lt"/>
              </a:rPr>
              <a:t>R. </a:t>
            </a:r>
            <a:r>
              <a:rPr lang="en-US" sz="1200" i="1" dirty="0" err="1" smtClean="0">
                <a:latin typeface="+mn-lt"/>
              </a:rPr>
              <a:t>Coombes</a:t>
            </a:r>
            <a:r>
              <a:rPr lang="en-US" sz="1200" i="1" dirty="0" smtClean="0">
                <a:latin typeface="+mn-lt"/>
              </a:rPr>
              <a:t>, </a:t>
            </a:r>
            <a:r>
              <a:rPr lang="en-US" sz="1200" dirty="0">
                <a:latin typeface="+mn-lt"/>
              </a:rPr>
              <a:t>Journal of the National Cancer Institute, Vol. 97, No. 4, February 16, 2005</a:t>
            </a:r>
            <a:r>
              <a:rPr lang="en-US" sz="1200" i="1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  <a:hlinkClick r:id="rId4" action="ppaction://hlinkfile"/>
              </a:rPr>
              <a:t>PDF</a:t>
            </a:r>
            <a:endParaRPr lang="en-US" sz="1200" dirty="0" smtClean="0">
              <a:latin typeface="+mn-lt"/>
            </a:endParaRPr>
          </a:p>
          <a:p>
            <a:r>
              <a:rPr lang="en-US" sz="1200" b="1" dirty="0" smtClean="0">
                <a:latin typeface="+mn-lt"/>
              </a:rPr>
              <a:t>Deriving </a:t>
            </a:r>
            <a:r>
              <a:rPr lang="en-US" sz="1200" b="1" dirty="0" err="1" smtClean="0">
                <a:latin typeface="+mn-lt"/>
              </a:rPr>
              <a:t>Chemosensitivity</a:t>
            </a:r>
            <a:r>
              <a:rPr lang="en-US" sz="1200" b="1" dirty="0" smtClean="0">
                <a:latin typeface="+mn-lt"/>
              </a:rPr>
              <a:t> from Cell Lines:  Forensic Bioinformatics and Reproducible Research in High-Throughput Biology,  </a:t>
            </a:r>
            <a:r>
              <a:rPr lang="en-US" sz="1200" dirty="0" smtClean="0">
                <a:latin typeface="+mn-lt"/>
              </a:rPr>
              <a:t>KEITH </a:t>
            </a:r>
            <a:r>
              <a:rPr lang="en-US" sz="1200" dirty="0">
                <a:latin typeface="+mn-lt"/>
              </a:rPr>
              <a:t>A. </a:t>
            </a:r>
            <a:r>
              <a:rPr lang="en-US" sz="1200" dirty="0" smtClean="0">
                <a:latin typeface="+mn-lt"/>
              </a:rPr>
              <a:t>BAGGERLY </a:t>
            </a:r>
            <a:r>
              <a:rPr lang="en-US" sz="1200" dirty="0">
                <a:latin typeface="+mn-lt"/>
              </a:rPr>
              <a:t>AND KEVIN R. </a:t>
            </a:r>
            <a:r>
              <a:rPr lang="en-US" sz="1200" dirty="0" smtClean="0">
                <a:latin typeface="+mn-lt"/>
              </a:rPr>
              <a:t>COOMBES. </a:t>
            </a:r>
            <a:r>
              <a:rPr lang="en-US" sz="1200" i="1" dirty="0" smtClean="0">
                <a:latin typeface="+mn-lt"/>
              </a:rPr>
              <a:t>The </a:t>
            </a:r>
            <a:r>
              <a:rPr lang="en-US" sz="1200" i="1" dirty="0">
                <a:latin typeface="+mn-lt"/>
              </a:rPr>
              <a:t>Annals of Applied </a:t>
            </a:r>
            <a:r>
              <a:rPr lang="en-US" sz="1200" i="1" dirty="0" smtClean="0">
                <a:latin typeface="+mn-lt"/>
              </a:rPr>
              <a:t>Statistics </a:t>
            </a:r>
            <a:r>
              <a:rPr lang="en-US" sz="1200" dirty="0" smtClean="0">
                <a:latin typeface="+mn-lt"/>
              </a:rPr>
              <a:t>2009</a:t>
            </a:r>
            <a:r>
              <a:rPr lang="en-US" sz="1200" dirty="0">
                <a:latin typeface="+mn-lt"/>
              </a:rPr>
              <a:t>, Vol. 3, No. 4, </a:t>
            </a:r>
            <a:r>
              <a:rPr lang="en-US" sz="1200" dirty="0" smtClean="0">
                <a:latin typeface="+mn-lt"/>
              </a:rPr>
              <a:t>1309–1334 DOI: 10.1214/09-AOAS291 </a:t>
            </a:r>
            <a:r>
              <a:rPr lang="en-US" sz="1200" dirty="0" smtClean="0">
                <a:latin typeface="+mn-lt"/>
                <a:hlinkClick r:id="rId5" action="ppaction://hlinkfile"/>
              </a:rPr>
              <a:t>PDF</a:t>
            </a:r>
            <a:endParaRPr lang="en-US" sz="1200" dirty="0" smtClean="0">
              <a:latin typeface="+mn-lt"/>
            </a:endParaRPr>
          </a:p>
          <a:p>
            <a:r>
              <a:rPr lang="en-US" sz="1200" b="1" i="1" dirty="0">
                <a:latin typeface="+mn-lt"/>
              </a:rPr>
              <a:t>The Elements of Statistical Learning: Data Mining, Inference, and Prediction</a:t>
            </a:r>
            <a:r>
              <a:rPr lang="en-US" sz="1200" dirty="0">
                <a:latin typeface="+mn-lt"/>
              </a:rPr>
              <a:t>. </a:t>
            </a:r>
            <a:r>
              <a:rPr lang="en-US" sz="1200" dirty="0" smtClean="0">
                <a:latin typeface="+mn-lt"/>
              </a:rPr>
              <a:t>Trevor </a:t>
            </a:r>
            <a:r>
              <a:rPr lang="en-US" sz="1200" dirty="0">
                <a:latin typeface="+mn-lt"/>
              </a:rPr>
              <a:t>Hastie, Robert </a:t>
            </a:r>
            <a:r>
              <a:rPr lang="en-US" sz="1200" dirty="0" err="1">
                <a:latin typeface="+mn-lt"/>
              </a:rPr>
              <a:t>Tibshirani</a:t>
            </a:r>
            <a:r>
              <a:rPr lang="en-US" sz="1200" dirty="0">
                <a:latin typeface="+mn-lt"/>
              </a:rPr>
              <a:t>, and Jerome Friedman. </a:t>
            </a:r>
            <a:r>
              <a:rPr lang="en-US" sz="1200" dirty="0" smtClean="0">
                <a:latin typeface="+mn-lt"/>
              </a:rPr>
              <a:t>Springer</a:t>
            </a:r>
            <a:r>
              <a:rPr lang="en-US" sz="1200" dirty="0">
                <a:latin typeface="+mn-lt"/>
              </a:rPr>
              <a:t>; 2nd ed. 2009. Corr. 3rd printing 5th Printing. edition (February 9, 2009) </a:t>
            </a:r>
            <a:r>
              <a:rPr lang="en-US" sz="1200" dirty="0" smtClean="0">
                <a:latin typeface="+mn-lt"/>
              </a:rPr>
              <a:t>, </a:t>
            </a:r>
            <a:r>
              <a:rPr lang="en-US" sz="1200" b="1" dirty="0" smtClean="0">
                <a:latin typeface="+mn-lt"/>
              </a:rPr>
              <a:t>ISBN-10</a:t>
            </a:r>
            <a:r>
              <a:rPr lang="en-US" sz="1200" b="1" dirty="0">
                <a:latin typeface="+mn-lt"/>
              </a:rPr>
              <a:t>:</a:t>
            </a:r>
            <a:r>
              <a:rPr lang="en-US" sz="1200" dirty="0">
                <a:latin typeface="+mn-lt"/>
              </a:rPr>
              <a:t> 0387848576 </a:t>
            </a:r>
            <a:r>
              <a:rPr lang="en-US" sz="1200" dirty="0" smtClean="0">
                <a:latin typeface="+mn-lt"/>
              </a:rPr>
              <a:t>, </a:t>
            </a:r>
            <a:r>
              <a:rPr lang="en-US" sz="1200" b="1" dirty="0" smtClean="0">
                <a:latin typeface="+mn-lt"/>
              </a:rPr>
              <a:t>ISBN-13</a:t>
            </a:r>
            <a:r>
              <a:rPr lang="en-US" sz="1200" b="1" dirty="0">
                <a:latin typeface="+mn-lt"/>
              </a:rPr>
              <a:t>:</a:t>
            </a:r>
            <a:r>
              <a:rPr lang="en-US" sz="1200" dirty="0">
                <a:latin typeface="+mn-lt"/>
              </a:rPr>
              <a:t> 978-0387848570 </a:t>
            </a:r>
            <a:r>
              <a:rPr lang="en-US" sz="1200" dirty="0" smtClean="0">
                <a:latin typeface="+mn-lt"/>
                <a:hlinkClick r:id="rId6" action="ppaction://hlinkfile"/>
              </a:rPr>
              <a:t>rtf</a:t>
            </a:r>
            <a:endParaRPr lang="en-US" sz="1200" dirty="0" smtClean="0">
              <a:latin typeface="+mn-lt"/>
            </a:endParaRPr>
          </a:p>
          <a:p>
            <a:r>
              <a:rPr lang="en-US" sz="1200" b="1" dirty="0">
                <a:latin typeface="+mn-lt"/>
              </a:rPr>
              <a:t>Evolution of Translational </a:t>
            </a:r>
            <a:r>
              <a:rPr lang="en-US" sz="1200" b="1" dirty="0" err="1">
                <a:latin typeface="+mn-lt"/>
              </a:rPr>
              <a:t>Omics</a:t>
            </a:r>
            <a:r>
              <a:rPr lang="en-US" sz="1200" b="1" dirty="0">
                <a:latin typeface="+mn-lt"/>
              </a:rPr>
              <a:t>: Lessons Learned and the Path Forward</a:t>
            </a:r>
            <a:r>
              <a:rPr lang="en-US" sz="1200" dirty="0">
                <a:latin typeface="+mn-lt"/>
              </a:rPr>
              <a:t>, Christine M. </a:t>
            </a:r>
            <a:r>
              <a:rPr lang="en-US" sz="1200" dirty="0" err="1">
                <a:latin typeface="+mn-lt"/>
              </a:rPr>
              <a:t>Micheel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err="1">
                <a:latin typeface="+mn-lt"/>
              </a:rPr>
              <a:t>Sharly</a:t>
            </a:r>
            <a:r>
              <a:rPr lang="en-US" sz="1200" dirty="0">
                <a:latin typeface="+mn-lt"/>
              </a:rPr>
              <a:t> J. </a:t>
            </a:r>
            <a:r>
              <a:rPr lang="en-US" sz="1200" dirty="0" err="1">
                <a:latin typeface="+mn-lt"/>
              </a:rPr>
              <a:t>Nass</a:t>
            </a:r>
            <a:r>
              <a:rPr lang="en-US" sz="1200" dirty="0">
                <a:latin typeface="+mn-lt"/>
              </a:rPr>
              <a:t>, and Gilbert S. </a:t>
            </a:r>
            <a:r>
              <a:rPr lang="en-US" sz="1200" dirty="0" err="1">
                <a:latin typeface="+mn-lt"/>
              </a:rPr>
              <a:t>Omenn</a:t>
            </a:r>
            <a:r>
              <a:rPr lang="en-US" sz="1200" dirty="0">
                <a:latin typeface="+mn-lt"/>
              </a:rPr>
              <a:t>, Editors; Committee on the Review of </a:t>
            </a:r>
            <a:r>
              <a:rPr lang="en-US" sz="1200" dirty="0" err="1">
                <a:latin typeface="+mn-lt"/>
              </a:rPr>
              <a:t>Omics</a:t>
            </a:r>
            <a:r>
              <a:rPr lang="en-US" sz="1200" dirty="0">
                <a:latin typeface="+mn-lt"/>
              </a:rPr>
              <a:t>-Based Tests for Predicting Patient Outcomes in Clinical Trials; Board on Health Care Services; Board on Health Sciences Policy; Institute of </a:t>
            </a:r>
            <a:r>
              <a:rPr lang="en-US" sz="1200" dirty="0" smtClean="0">
                <a:latin typeface="+mn-lt"/>
              </a:rPr>
              <a:t>Medicine, Citation: </a:t>
            </a:r>
            <a:r>
              <a:rPr lang="en-US" sz="1200" dirty="0">
                <a:latin typeface="+mn-lt"/>
              </a:rPr>
              <a:t>IOM (Institute of Medicine). 2012. </a:t>
            </a:r>
            <a:r>
              <a:rPr lang="en-US" sz="1200" i="1" dirty="0">
                <a:latin typeface="+mn-lt"/>
              </a:rPr>
              <a:t>Evolution of Translational </a:t>
            </a:r>
            <a:r>
              <a:rPr lang="en-US" sz="1200" i="1" dirty="0" err="1">
                <a:latin typeface="+mn-lt"/>
              </a:rPr>
              <a:t>Omics</a:t>
            </a:r>
            <a:r>
              <a:rPr lang="en-US" sz="1200" i="1" dirty="0">
                <a:latin typeface="+mn-lt"/>
              </a:rPr>
              <a:t>: </a:t>
            </a:r>
            <a:r>
              <a:rPr lang="en-US" sz="1200" i="1" dirty="0" smtClean="0">
                <a:latin typeface="+mn-lt"/>
              </a:rPr>
              <a:t>Lessons Learned </a:t>
            </a:r>
            <a:r>
              <a:rPr lang="en-US" sz="1200" i="1" dirty="0">
                <a:latin typeface="+mn-lt"/>
              </a:rPr>
              <a:t>and the Path Forward. </a:t>
            </a:r>
            <a:r>
              <a:rPr lang="en-US" sz="1200" dirty="0">
                <a:latin typeface="+mn-lt"/>
              </a:rPr>
              <a:t>Washington, DC: The National Academies Press.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  <a:hlinkClick r:id="rId7" action="ppaction://hlinkfile"/>
              </a:rPr>
              <a:t>PDF</a:t>
            </a:r>
            <a:endParaRPr lang="en-US" sz="1200" dirty="0" smtClean="0">
              <a:latin typeface="+mn-lt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>
                <a:latin typeface="+mn-lt"/>
              </a:rPr>
              <a:t>Probabilistic classifiers with high-dimensional data. </a:t>
            </a:r>
            <a:r>
              <a:rPr lang="en-US" sz="1200" dirty="0">
                <a:latin typeface="+mn-lt"/>
              </a:rPr>
              <a:t>KYUNG IN KIM, RICHARD SIMON. </a:t>
            </a:r>
            <a:r>
              <a:rPr lang="en-US" sz="1200" i="1" dirty="0">
                <a:latin typeface="+mn-lt"/>
              </a:rPr>
              <a:t>Biostatistics </a:t>
            </a:r>
            <a:r>
              <a:rPr lang="en-US" sz="1200" dirty="0">
                <a:latin typeface="+mn-lt"/>
              </a:rPr>
              <a:t>(2011), </a:t>
            </a:r>
            <a:r>
              <a:rPr lang="en-US" sz="1200" b="1" dirty="0">
                <a:latin typeface="+mn-lt"/>
              </a:rPr>
              <a:t>12</a:t>
            </a:r>
            <a:r>
              <a:rPr lang="en-US" sz="1200" dirty="0">
                <a:latin typeface="+mn-lt"/>
              </a:rPr>
              <a:t>, 3, </a:t>
            </a:r>
            <a:r>
              <a:rPr lang="en-US" sz="1200" i="1" dirty="0">
                <a:latin typeface="+mn-lt"/>
              </a:rPr>
              <a:t>pp. </a:t>
            </a:r>
            <a:r>
              <a:rPr lang="en-US" sz="1200" dirty="0">
                <a:latin typeface="+mn-lt"/>
              </a:rPr>
              <a:t>399–412. doi:10.1093/biostatistics/kxq069, Advance Access publication on November 17, 2010 </a:t>
            </a:r>
            <a:r>
              <a:rPr lang="en-US" sz="1200" dirty="0" smtClean="0">
                <a:latin typeface="+mn-lt"/>
                <a:hlinkClick r:id="rId8" action="ppaction://hlinkfile"/>
              </a:rPr>
              <a:t>PDF</a:t>
            </a:r>
            <a:endParaRPr lang="en-US" sz="1200" dirty="0">
              <a:latin typeface="+mn-lt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>
                <a:latin typeface="+mn-lt"/>
              </a:rPr>
              <a:t>Supplementary Materials for “Probabilistic Classifiers with High-dimensional Data”. </a:t>
            </a:r>
            <a:r>
              <a:rPr lang="en-US" sz="1200" dirty="0">
                <a:latin typeface="+mn-lt"/>
              </a:rPr>
              <a:t>Kyung In Kim, Richard Simon </a:t>
            </a:r>
            <a:r>
              <a:rPr lang="en-US" sz="1200" dirty="0" smtClean="0">
                <a:latin typeface="+mn-lt"/>
                <a:hlinkClick r:id="rId9" action="ppaction://hlinkfile"/>
              </a:rPr>
              <a:t>PDF</a:t>
            </a:r>
            <a:endParaRPr lang="en-US" sz="1200" dirty="0">
              <a:latin typeface="+mn-lt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>
                <a:latin typeface="+mn-lt"/>
              </a:rPr>
              <a:t>Use of proteomic patterns in serum to identify ovarian cancer</a:t>
            </a:r>
            <a:r>
              <a:rPr lang="en-US" sz="1200" dirty="0">
                <a:latin typeface="+mn-lt"/>
              </a:rPr>
              <a:t>, </a:t>
            </a:r>
            <a:r>
              <a:rPr lang="en-US" sz="1200" i="1" dirty="0">
                <a:latin typeface="+mn-lt"/>
              </a:rPr>
              <a:t>Emanuel F </a:t>
            </a:r>
            <a:r>
              <a:rPr lang="en-US" sz="1200" i="1" dirty="0" err="1">
                <a:latin typeface="+mn-lt"/>
              </a:rPr>
              <a:t>Petricoin</a:t>
            </a:r>
            <a:r>
              <a:rPr lang="en-US" sz="1200" i="1" dirty="0">
                <a:latin typeface="+mn-lt"/>
              </a:rPr>
              <a:t> III, Ali M </a:t>
            </a:r>
            <a:r>
              <a:rPr lang="en-US" sz="1200" i="1" dirty="0" err="1">
                <a:latin typeface="+mn-lt"/>
              </a:rPr>
              <a:t>Ardekani</a:t>
            </a:r>
            <a:r>
              <a:rPr lang="en-US" sz="1200" i="1" dirty="0">
                <a:latin typeface="+mn-lt"/>
              </a:rPr>
              <a:t>, Ben A </a:t>
            </a:r>
            <a:r>
              <a:rPr lang="en-US" sz="1200" i="1" dirty="0" err="1">
                <a:latin typeface="+mn-lt"/>
              </a:rPr>
              <a:t>Hitt</a:t>
            </a:r>
            <a:r>
              <a:rPr lang="en-US" sz="1200" i="1" dirty="0">
                <a:latin typeface="+mn-lt"/>
              </a:rPr>
              <a:t>, Peter J Levine, Vincent A </a:t>
            </a:r>
            <a:r>
              <a:rPr lang="en-US" sz="1200" i="1" dirty="0" err="1">
                <a:latin typeface="+mn-lt"/>
              </a:rPr>
              <a:t>Fusaro</a:t>
            </a:r>
            <a:r>
              <a:rPr lang="en-US" sz="1200" i="1" dirty="0">
                <a:latin typeface="+mn-lt"/>
              </a:rPr>
              <a:t>, Seth M Steinberg, Gordon B Mills, Charles Simone, David A Fishman, Elise C Kohn, Lance A </a:t>
            </a:r>
            <a:r>
              <a:rPr lang="en-US" sz="1200" i="1" dirty="0" err="1">
                <a:latin typeface="+mn-lt"/>
              </a:rPr>
              <a:t>Liotta</a:t>
            </a:r>
            <a:r>
              <a:rPr lang="en-US" sz="1200" i="1" dirty="0">
                <a:latin typeface="+mn-lt"/>
              </a:rPr>
              <a:t>, </a:t>
            </a:r>
            <a:r>
              <a:rPr lang="en-US" sz="1200" dirty="0">
                <a:latin typeface="+mn-lt"/>
              </a:rPr>
              <a:t>THE LANCET • </a:t>
            </a:r>
            <a:r>
              <a:rPr lang="en-US" sz="1200" dirty="0" err="1">
                <a:latin typeface="+mn-lt"/>
              </a:rPr>
              <a:t>Vol</a:t>
            </a:r>
            <a:r>
              <a:rPr lang="en-US" sz="1200" dirty="0">
                <a:latin typeface="+mn-lt"/>
              </a:rPr>
              <a:t> 359 • February 16, 2002 </a:t>
            </a:r>
            <a:r>
              <a:rPr lang="en-US" sz="1200" dirty="0" smtClean="0">
                <a:latin typeface="+mn-lt"/>
                <a:hlinkClick r:id="rId10" action="ppaction://hlinkfile"/>
              </a:rPr>
              <a:t>PDF</a:t>
            </a:r>
            <a:endParaRPr lang="en-US" sz="1200" dirty="0">
              <a:latin typeface="+mn-lt"/>
            </a:endParaRPr>
          </a:p>
          <a:p>
            <a:endParaRPr lang="en-US" sz="1200" dirty="0">
              <a:latin typeface="+mn-lt"/>
            </a:endParaRPr>
          </a:p>
          <a:p>
            <a:endParaRPr lang="en-US" sz="1200" dirty="0" smtClean="0">
              <a:latin typeface="+mn-lt"/>
            </a:endParaRPr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7287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A13EE-B1C7-7041-974E-A5C3361A864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181755"/>
            <a:ext cx="8610600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endParaRPr lang="en-US" sz="10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/>
              <a:t>Pitfalls in the Use of DNA Microarray Data for Diagnostic and Prognostic Classification,  </a:t>
            </a:r>
            <a:r>
              <a:rPr lang="en-US" sz="1200" i="1" dirty="0"/>
              <a:t>Richard Simon, Michael D. </a:t>
            </a:r>
            <a:r>
              <a:rPr lang="en-US" sz="1200" i="1" dirty="0" err="1"/>
              <a:t>Radmacher</a:t>
            </a:r>
            <a:r>
              <a:rPr lang="en-US" sz="1200" i="1" dirty="0"/>
              <a:t>, Kevin Dobbin, Lisa M. </a:t>
            </a:r>
            <a:r>
              <a:rPr lang="en-US" sz="1200" i="1" dirty="0" err="1"/>
              <a:t>McShane</a:t>
            </a:r>
            <a:r>
              <a:rPr lang="en-US" sz="1200" i="1" dirty="0"/>
              <a:t>. </a:t>
            </a:r>
            <a:r>
              <a:rPr lang="en-US" sz="1200" dirty="0"/>
              <a:t>Journal of the National Cancer Institute, Vol. 95, No. 1, January 1, 2003</a:t>
            </a:r>
            <a:r>
              <a:rPr lang="en-US" sz="1200" i="1" dirty="0"/>
              <a:t> </a:t>
            </a:r>
            <a:r>
              <a:rPr lang="en-US" sz="1200" dirty="0" smtClean="0">
                <a:hlinkClick r:id="rId3" action="ppaction://hlinkfile"/>
              </a:rPr>
              <a:t>PDF</a:t>
            </a:r>
            <a:endParaRPr lang="en-US" sz="1200" dirty="0" smtClean="0"/>
          </a:p>
          <a:p>
            <a:pPr marL="171450" indent="-171450">
              <a:buFont typeface="Arial" pitchFamily="34" charset="0"/>
              <a:buChar char="•"/>
            </a:pP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/>
              <a:t>SUPPLEMENTAL MATERIAL FOR: PITFALLS IN THE USE OF DNA MICROARRAY DATA FOR DIAGNOSTIC AND PROGNOSTIC CLASSIFICATION, </a:t>
            </a:r>
            <a:r>
              <a:rPr lang="en-US" sz="1200" dirty="0"/>
              <a:t>Richard Simon, Michael D. </a:t>
            </a:r>
            <a:r>
              <a:rPr lang="en-US" sz="1200" dirty="0" err="1"/>
              <a:t>Radmacher</a:t>
            </a:r>
            <a:r>
              <a:rPr lang="en-US" sz="1200" dirty="0"/>
              <a:t>, Kevin Dobbin</a:t>
            </a:r>
            <a:r>
              <a:rPr lang="en-US" sz="1200" baseline="30000" dirty="0"/>
              <a:t> </a:t>
            </a:r>
            <a:r>
              <a:rPr lang="en-US" sz="1200" dirty="0"/>
              <a:t>and Lisa M. </a:t>
            </a:r>
            <a:r>
              <a:rPr lang="en-US" sz="1200" dirty="0" err="1"/>
              <a:t>McShane</a:t>
            </a:r>
            <a:r>
              <a:rPr lang="en-US" sz="1200" dirty="0"/>
              <a:t>,  </a:t>
            </a:r>
            <a:r>
              <a:rPr lang="en-US" sz="1200" dirty="0" smtClean="0">
                <a:hlinkClick r:id="rId4" action="ppaction://hlinkfile"/>
              </a:rPr>
              <a:t>PDF</a:t>
            </a:r>
            <a:endParaRPr lang="en-US" sz="1200" dirty="0" smtClean="0"/>
          </a:p>
          <a:p>
            <a:pPr marL="171450" indent="-171450">
              <a:buFont typeface="Arial" pitchFamily="34" charset="0"/>
              <a:buChar char="•"/>
            </a:pP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/>
              <a:t>Use of Archived Specimens in Evaluation of Prognostic and Predictive Biomarkers, </a:t>
            </a:r>
            <a:r>
              <a:rPr lang="en-US" sz="1200" dirty="0"/>
              <a:t>Richard M. Simon , </a:t>
            </a:r>
            <a:r>
              <a:rPr lang="en-US" sz="1200" dirty="0" err="1"/>
              <a:t>Soonmyung</a:t>
            </a:r>
            <a:r>
              <a:rPr lang="en-US" sz="1200" dirty="0"/>
              <a:t> Paik , Daniel F. Hayes , </a:t>
            </a:r>
            <a:r>
              <a:rPr lang="nl-NL" sz="1200" i="1" dirty="0"/>
              <a:t>JNCI</a:t>
            </a:r>
            <a:r>
              <a:rPr lang="nl-NL" sz="1200" b="1" dirty="0"/>
              <a:t> </a:t>
            </a:r>
            <a:r>
              <a:rPr lang="nl-NL" sz="1200" dirty="0"/>
              <a:t>Vol. 101, Issue 21 | November 4, 2009 </a:t>
            </a:r>
            <a:r>
              <a:rPr lang="en-US" sz="1200" dirty="0" smtClean="0">
                <a:hlinkClick r:id="rId5" action="ppaction://hlinkfile"/>
              </a:rPr>
              <a:t>PDF</a:t>
            </a:r>
            <a:endParaRPr lang="en-US" sz="1200" dirty="0" smtClean="0"/>
          </a:p>
          <a:p>
            <a:pPr marL="171450" indent="-171450">
              <a:buFont typeface="Arial" pitchFamily="34" charset="0"/>
              <a:buChar char="•"/>
            </a:pP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/>
              <a:t>The Evaluation of Genomic Applications in Practice and Prevention (EGAPP) initiative: methods of the EGAPP Working Group, </a:t>
            </a:r>
            <a:r>
              <a:rPr lang="en-US" sz="1200" i="1" dirty="0"/>
              <a:t>Steven M. </a:t>
            </a:r>
            <a:r>
              <a:rPr lang="en-US" sz="1200" i="1" dirty="0" err="1"/>
              <a:t>Teutsch</a:t>
            </a:r>
            <a:r>
              <a:rPr lang="en-US" sz="1200" i="1" dirty="0"/>
              <a:t>, MD, MPH, Linda A. Bradley, PhD, Glenn E. </a:t>
            </a:r>
            <a:r>
              <a:rPr lang="en-US" sz="1200" i="1" dirty="0" err="1"/>
              <a:t>Palomaki</a:t>
            </a:r>
            <a:r>
              <a:rPr lang="en-US" sz="1200" i="1" dirty="0"/>
              <a:t>, BS, James E. </a:t>
            </a:r>
            <a:r>
              <a:rPr lang="en-US" sz="1200" i="1" dirty="0" err="1"/>
              <a:t>Haddow</a:t>
            </a:r>
            <a:r>
              <a:rPr lang="en-US" sz="1200" i="1" dirty="0"/>
              <a:t>, MD, Margaret Piper, PhD, Ned </a:t>
            </a:r>
            <a:r>
              <a:rPr lang="en-US" sz="1200" i="1" dirty="0" err="1"/>
              <a:t>Calonge</a:t>
            </a:r>
            <a:r>
              <a:rPr lang="en-US" sz="1200" i="1" dirty="0"/>
              <a:t>, MD, MPH, W. David Dotson, PhD, Michael P. Douglas, MS, and Alfred O. Berg, MD, MPH, </a:t>
            </a:r>
            <a:r>
              <a:rPr lang="en-US" sz="1200" dirty="0" smtClean="0">
                <a:hlinkClick r:id="rId6" action="ppaction://hlinkfile"/>
              </a:rPr>
              <a:t>PDF</a:t>
            </a:r>
            <a:endParaRPr lang="en-US" sz="1200" dirty="0" smtClean="0"/>
          </a:p>
          <a:p>
            <a:pPr marL="171450" indent="-171450">
              <a:buFont typeface="Arial" pitchFamily="34" charset="0"/>
              <a:buChar char="•"/>
            </a:pP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/>
              <a:t>Bias in error estimation when using cross-validation for model selection, </a:t>
            </a:r>
            <a:r>
              <a:rPr lang="en-US" sz="1200" dirty="0" err="1"/>
              <a:t>Sudhir</a:t>
            </a:r>
            <a:r>
              <a:rPr lang="en-US" sz="1200" dirty="0"/>
              <a:t> </a:t>
            </a:r>
            <a:r>
              <a:rPr lang="en-US" sz="1200" dirty="0" err="1"/>
              <a:t>Varma</a:t>
            </a:r>
            <a:r>
              <a:rPr lang="en-US" sz="1200" dirty="0"/>
              <a:t>*† and Richard Simon. </a:t>
            </a:r>
            <a:r>
              <a:rPr lang="en-US" sz="1200" i="1" dirty="0"/>
              <a:t>BMC Bioinformatics </a:t>
            </a:r>
            <a:r>
              <a:rPr lang="en-US" sz="1200" dirty="0"/>
              <a:t>2006, </a:t>
            </a:r>
            <a:r>
              <a:rPr lang="en-US" sz="1200" b="1" dirty="0"/>
              <a:t>7</a:t>
            </a:r>
            <a:r>
              <a:rPr lang="en-US" sz="1200" dirty="0"/>
              <a:t>:91. </a:t>
            </a:r>
            <a:r>
              <a:rPr lang="en-US" sz="1200" dirty="0" smtClean="0">
                <a:hlinkClick r:id="rId7" action="ppaction://hlinkfile"/>
              </a:rPr>
              <a:t>PDF</a:t>
            </a:r>
            <a:endParaRPr lang="en-US" sz="1200" dirty="0" smtClean="0"/>
          </a:p>
          <a:p>
            <a:pPr marL="171450" indent="-171450">
              <a:buFont typeface="Arial" pitchFamily="34" charset="0"/>
              <a:buChar char="•"/>
            </a:pP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/>
              <a:t>Differential </a:t>
            </a:r>
            <a:r>
              <a:rPr lang="en-US" sz="1200" b="1" dirty="0" err="1"/>
              <a:t>exoprotease</a:t>
            </a:r>
            <a:r>
              <a:rPr lang="en-US" sz="1200" b="1" dirty="0"/>
              <a:t> activities confer tumor-specific serum </a:t>
            </a:r>
            <a:r>
              <a:rPr lang="en-US" sz="1200" b="1" dirty="0" err="1"/>
              <a:t>peptidome</a:t>
            </a:r>
            <a:r>
              <a:rPr lang="en-US" sz="1200" b="1" dirty="0"/>
              <a:t> patterns</a:t>
            </a:r>
            <a:r>
              <a:rPr lang="en-US" sz="1200" dirty="0"/>
              <a:t>, </a:t>
            </a:r>
            <a:r>
              <a:rPr lang="en-US" sz="1200" dirty="0" err="1"/>
              <a:t>Josep</a:t>
            </a:r>
            <a:r>
              <a:rPr lang="en-US" sz="1200" dirty="0"/>
              <a:t> Villanueva, David R. Shaffer, John Philip, Carlos A. </a:t>
            </a:r>
            <a:r>
              <a:rPr lang="en-US" sz="1200" dirty="0" err="1"/>
              <a:t>Chaparro</a:t>
            </a:r>
            <a:r>
              <a:rPr lang="en-US" sz="1200" dirty="0"/>
              <a:t>, </a:t>
            </a:r>
            <a:r>
              <a:rPr lang="en-US" sz="1200" dirty="0" err="1"/>
              <a:t>Hediye</a:t>
            </a:r>
            <a:r>
              <a:rPr lang="en-US" sz="1200" dirty="0"/>
              <a:t> </a:t>
            </a:r>
            <a:r>
              <a:rPr lang="en-US" sz="1200" dirty="0" err="1"/>
              <a:t>Erdjument-Bromage</a:t>
            </a:r>
            <a:r>
              <a:rPr lang="en-US" sz="1200" dirty="0"/>
              <a:t>, Adam B. </a:t>
            </a:r>
            <a:r>
              <a:rPr lang="en-US" sz="1200" dirty="0" err="1"/>
              <a:t>Olshen</a:t>
            </a:r>
            <a:r>
              <a:rPr lang="en-US" sz="1200" dirty="0"/>
              <a:t>, Martin Fleisher, Hans </a:t>
            </a:r>
            <a:r>
              <a:rPr lang="en-US" sz="1200" dirty="0" err="1"/>
              <a:t>Lilja</a:t>
            </a:r>
            <a:r>
              <a:rPr lang="en-US" sz="1200" dirty="0"/>
              <a:t>, Edi </a:t>
            </a:r>
            <a:r>
              <a:rPr lang="en-US" sz="1200" dirty="0" err="1"/>
              <a:t>Brogi</a:t>
            </a:r>
            <a:r>
              <a:rPr lang="en-US" sz="1200" dirty="0"/>
              <a:t>, Jeff Boyd, Marta Sanchez-</a:t>
            </a:r>
            <a:r>
              <a:rPr lang="en-US" sz="1200" dirty="0" err="1"/>
              <a:t>Carbayo</a:t>
            </a:r>
            <a:r>
              <a:rPr lang="en-US" sz="1200" dirty="0"/>
              <a:t>, Eric C. Holland, Carlos Cordon-</a:t>
            </a:r>
            <a:r>
              <a:rPr lang="en-US" sz="1200" dirty="0" err="1"/>
              <a:t>Cardo</a:t>
            </a:r>
            <a:r>
              <a:rPr lang="en-US" sz="1200" dirty="0"/>
              <a:t>, Howard I. </a:t>
            </a:r>
            <a:r>
              <a:rPr lang="en-US" sz="1200" dirty="0" err="1"/>
              <a:t>Scher</a:t>
            </a:r>
            <a:r>
              <a:rPr lang="en-US" sz="1200" dirty="0"/>
              <a:t>, and Paul </a:t>
            </a:r>
            <a:r>
              <a:rPr lang="en-US" sz="1200" dirty="0" err="1"/>
              <a:t>Tempst</a:t>
            </a:r>
            <a:r>
              <a:rPr lang="en-US" sz="1200" dirty="0"/>
              <a:t>, </a:t>
            </a:r>
            <a:r>
              <a:rPr lang="en-US" sz="1200" i="1" dirty="0"/>
              <a:t>The Journal of Clinical Investigation </a:t>
            </a:r>
            <a:r>
              <a:rPr lang="en-US" sz="1200" dirty="0"/>
              <a:t>http://www.jci.org Volume 116 Number 1 January 2006. </a:t>
            </a:r>
            <a:r>
              <a:rPr lang="en-US" sz="1200" dirty="0" smtClean="0">
                <a:hlinkClick r:id="rId8" action="ppaction://hlinkfile"/>
              </a:rPr>
              <a:t>PDF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7758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Omics</a:t>
            </a:r>
            <a:r>
              <a:rPr lang="en-US" dirty="0" smtClean="0"/>
              <a:t>-based test development process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A13EE-B1C7-7041-974E-A5C3361A864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67184" y="1203811"/>
            <a:ext cx="1730218" cy="369332"/>
          </a:xfrm>
          <a:prstGeom prst="rect">
            <a:avLst/>
          </a:prstGeom>
          <a:noFill/>
          <a:ln w="28575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 smtClean="0"/>
              <a:t>Discovery Phase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748349" y="1970782"/>
            <a:ext cx="2405595" cy="1077218"/>
          </a:xfrm>
          <a:prstGeom prst="rect">
            <a:avLst/>
          </a:prstGeom>
          <a:noFill/>
          <a:ln w="28575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 smtClean="0"/>
              <a:t>Candidate Test Developed</a:t>
            </a:r>
          </a:p>
          <a:p>
            <a:pPr algn="ctr"/>
            <a:r>
              <a:rPr lang="en-US" sz="1600" dirty="0" smtClean="0"/>
              <a:t>On Training Set, Followed</a:t>
            </a:r>
          </a:p>
          <a:p>
            <a:pPr algn="ctr"/>
            <a:r>
              <a:rPr lang="en-US" sz="1600" dirty="0" smtClean="0"/>
              <a:t>By Lock-Down of All</a:t>
            </a:r>
          </a:p>
          <a:p>
            <a:pPr algn="ctr"/>
            <a:r>
              <a:rPr lang="en-US" sz="1600" dirty="0" smtClean="0"/>
              <a:t>Computational Procedures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2370193" y="3713713"/>
            <a:ext cx="3124200" cy="2308324"/>
          </a:xfrm>
          <a:prstGeom prst="rect">
            <a:avLst/>
          </a:prstGeom>
          <a:noFill/>
          <a:ln w="28575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 smtClean="0"/>
              <a:t>Confirmation of Candidate</a:t>
            </a:r>
          </a:p>
          <a:p>
            <a:pPr algn="ctr"/>
            <a:r>
              <a:rPr lang="en-US" sz="1600" dirty="0" err="1" smtClean="0"/>
              <a:t>Omics</a:t>
            </a:r>
            <a:r>
              <a:rPr lang="en-US" sz="1600" dirty="0" smtClean="0"/>
              <a:t>-Based Test using:</a:t>
            </a:r>
          </a:p>
          <a:p>
            <a:pPr algn="ctr"/>
            <a:endParaRPr lang="en-US" sz="1600" dirty="0" smtClean="0"/>
          </a:p>
          <a:p>
            <a:pPr marL="342900" indent="-342900" algn="ctr">
              <a:buAutoNum type="arabicPeriod"/>
            </a:pPr>
            <a:r>
              <a:rPr lang="en-US" sz="1600" dirty="0" smtClean="0"/>
              <a:t>An Independent Sample set if available (preferred);</a:t>
            </a:r>
          </a:p>
          <a:p>
            <a:pPr algn="ctr"/>
            <a:r>
              <a:rPr lang="en-US" sz="1600" dirty="0" smtClean="0"/>
              <a:t>-or-</a:t>
            </a:r>
          </a:p>
          <a:p>
            <a:pPr algn="ctr"/>
            <a:r>
              <a:rPr lang="en-US" sz="1600" dirty="0" smtClean="0"/>
              <a:t>2.  A subset of the Training Set NOT Used during training (less preferred).</a:t>
            </a:r>
            <a:endParaRPr lang="en-US" sz="1600" dirty="0"/>
          </a:p>
        </p:txBody>
      </p:sp>
      <p:sp>
        <p:nvSpPr>
          <p:cNvPr id="8" name="Down Arrow 7"/>
          <p:cNvSpPr/>
          <p:nvPr/>
        </p:nvSpPr>
        <p:spPr>
          <a:xfrm>
            <a:off x="3733800" y="3048000"/>
            <a:ext cx="457200" cy="685800"/>
          </a:xfrm>
          <a:prstGeom prst="down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GHI-May12a">
      <a:dk1>
        <a:srgbClr val="3B3B3B"/>
      </a:dk1>
      <a:lt1>
        <a:sysClr val="window" lastClr="FFFFFF"/>
      </a:lt1>
      <a:dk2>
        <a:srgbClr val="005596"/>
      </a:dk2>
      <a:lt2>
        <a:srgbClr val="EEECE1"/>
      </a:lt2>
      <a:accent1>
        <a:srgbClr val="4F81BD"/>
      </a:accent1>
      <a:accent2>
        <a:srgbClr val="35530D"/>
      </a:accent2>
      <a:accent3>
        <a:srgbClr val="6DB33F"/>
      </a:accent3>
      <a:accent4>
        <a:srgbClr val="642566"/>
      </a:accent4>
      <a:accent5>
        <a:srgbClr val="6A737B"/>
      </a:accent5>
      <a:accent6>
        <a:srgbClr val="F8971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19CF8080D5494D8167F4426BA75C35" ma:contentTypeVersion="2" ma:contentTypeDescription="Create a new document." ma:contentTypeScope="" ma:versionID="80c8693f2c88861bcab776eae57d8881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47206dab0015f8b9f8924535193e8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030D2C3-40B4-4D2F-A880-CB55D28695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29D44E-A9E1-4EEA-8B13-3C42B360AF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E24501-DB92-4307-BB2A-7CB4309328E8}">
  <ds:schemaRefs>
    <ds:schemaRef ds:uri="http://schemas.microsoft.com/office/2006/documentManagement/types"/>
    <ds:schemaRef ds:uri="http://purl.org/dc/dcmitype/"/>
    <ds:schemaRef ds:uri="http://schemas.microsoft.com/sharepoint/v3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3980</TotalTime>
  <Words>813</Words>
  <Application>Microsoft Office PowerPoint</Application>
  <PresentationFormat>On-screen Show (4:3)</PresentationFormat>
  <Paragraphs>39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References</vt:lpstr>
      <vt:lpstr>References</vt:lpstr>
      <vt:lpstr>Omics-based test development process</vt:lpstr>
    </vt:vector>
  </TitlesOfParts>
  <Company>WCG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Raina Nidhi</dc:creator>
  <cp:lastModifiedBy>Lynn Marquesen</cp:lastModifiedBy>
  <cp:revision>188</cp:revision>
  <dcterms:created xsi:type="dcterms:W3CDTF">2012-04-24T17:56:02Z</dcterms:created>
  <dcterms:modified xsi:type="dcterms:W3CDTF">2012-06-13T21:40:02Z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0x0101004419CF8080D5494D8167F4426BA75C35</vt:lpwstr>
  </property>
</Properties>
</file>