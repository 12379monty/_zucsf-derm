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281" r:id="rId5"/>
    <p:sldId id="344" r:id="rId6"/>
    <p:sldId id="291" r:id="rId7"/>
    <p:sldId id="301" r:id="rId8"/>
    <p:sldId id="321" r:id="rId9"/>
    <p:sldId id="322" r:id="rId10"/>
    <p:sldId id="323" r:id="rId11"/>
    <p:sldId id="324" r:id="rId12"/>
    <p:sldId id="325" r:id="rId13"/>
    <p:sldId id="341" r:id="rId14"/>
    <p:sldId id="316" r:id="rId15"/>
    <p:sldId id="334" r:id="rId16"/>
    <p:sldId id="335" r:id="rId17"/>
    <p:sldId id="342" r:id="rId18"/>
    <p:sldId id="337" r:id="rId19"/>
    <p:sldId id="320" r:id="rId20"/>
    <p:sldId id="315" r:id="rId21"/>
    <p:sldId id="312" r:id="rId22"/>
    <p:sldId id="340" r:id="rId23"/>
    <p:sldId id="339" r:id="rId24"/>
    <p:sldId id="331" r:id="rId25"/>
    <p:sldId id="332" r:id="rId26"/>
    <p:sldId id="330" r:id="rId27"/>
    <p:sldId id="302" r:id="rId28"/>
    <p:sldId id="343" r:id="rId29"/>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CG Admin"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33F"/>
    <a:srgbClr val="6D663F"/>
    <a:srgbClr val="6A737B"/>
    <a:srgbClr val="005596"/>
    <a:srgbClr val="ADD392"/>
    <a:srgbClr val="51A700"/>
    <a:srgbClr val="60BD00"/>
    <a:srgbClr val="285315"/>
    <a:srgbClr val="195315"/>
    <a:srgbClr val="24531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68" autoAdjust="0"/>
    <p:restoredTop sz="81769" autoAdjust="0"/>
  </p:normalViewPr>
  <p:slideViewPr>
    <p:cSldViewPr>
      <p:cViewPr varScale="1">
        <p:scale>
          <a:sx n="103" d="100"/>
          <a:sy n="103" d="100"/>
        </p:scale>
        <p:origin x="216" y="184"/>
      </p:cViewPr>
      <p:guideLst>
        <p:guide orient="horz" pos="2160"/>
        <p:guide pos="2880"/>
      </p:guideLst>
    </p:cSldViewPr>
  </p:slideViewPr>
  <p:outlineViewPr>
    <p:cViewPr>
      <p:scale>
        <a:sx n="33" d="100"/>
        <a:sy n="33" d="100"/>
      </p:scale>
      <p:origin x="0" y="1258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0" d="100"/>
          <a:sy n="50" d="100"/>
        </p:scale>
        <p:origin x="-1286" y="-8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B6804A25-08A2-C34E-B1E2-6C60263A21D1}" type="datetimeFigureOut">
              <a:rPr lang="en-US" smtClean="0"/>
              <a:t>3/14/26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329EC2CA-5FBB-3C47-A29D-1774684B966F}" type="slidenum">
              <a:rPr lang="en-US" smtClean="0"/>
              <a:t>‹#›</a:t>
            </a:fld>
            <a:endParaRPr lang="en-US"/>
          </a:p>
        </p:txBody>
      </p:sp>
    </p:spTree>
    <p:extLst>
      <p:ext uri="{BB962C8B-B14F-4D97-AF65-F5344CB8AC3E}">
        <p14:creationId xmlns:p14="http://schemas.microsoft.com/office/powerpoint/2010/main" val="25208471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B1C50C4C-5501-5F41-8268-DC3216A07671}" type="datetimeFigureOut">
              <a:rPr lang="en-US" smtClean="0"/>
              <a:t>3/14/26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1A59A9F-3B11-0A4F-893C-D31C4A84DEB6}" type="slidenum">
              <a:rPr lang="en-US" smtClean="0"/>
              <a:t>‹#›</a:t>
            </a:fld>
            <a:endParaRPr lang="en-US"/>
          </a:p>
        </p:txBody>
      </p:sp>
    </p:spTree>
    <p:extLst>
      <p:ext uri="{BB962C8B-B14F-4D97-AF65-F5344CB8AC3E}">
        <p14:creationId xmlns:p14="http://schemas.microsoft.com/office/powerpoint/2010/main" val="399022516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a:t>
            </a:fld>
            <a:endParaRPr lang="en-US"/>
          </a:p>
        </p:txBody>
      </p:sp>
    </p:spTree>
    <p:extLst>
      <p:ext uri="{BB962C8B-B14F-4D97-AF65-F5344CB8AC3E}">
        <p14:creationId xmlns:p14="http://schemas.microsoft.com/office/powerpoint/2010/main" val="3867378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3</a:t>
            </a:fld>
            <a:endParaRPr lang="en-US"/>
          </a:p>
        </p:txBody>
      </p:sp>
    </p:spTree>
    <p:extLst>
      <p:ext uri="{BB962C8B-B14F-4D97-AF65-F5344CB8AC3E}">
        <p14:creationId xmlns:p14="http://schemas.microsoft.com/office/powerpoint/2010/main" val="2895328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4</a:t>
            </a:fld>
            <a:endParaRPr lang="en-US"/>
          </a:p>
        </p:txBody>
      </p:sp>
    </p:spTree>
    <p:extLst>
      <p:ext uri="{BB962C8B-B14F-4D97-AF65-F5344CB8AC3E}">
        <p14:creationId xmlns:p14="http://schemas.microsoft.com/office/powerpoint/2010/main" val="171855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5</a:t>
            </a:fld>
            <a:endParaRPr lang="en-US"/>
          </a:p>
        </p:txBody>
      </p:sp>
    </p:spTree>
    <p:extLst>
      <p:ext uri="{BB962C8B-B14F-4D97-AF65-F5344CB8AC3E}">
        <p14:creationId xmlns:p14="http://schemas.microsoft.com/office/powerpoint/2010/main" val="2008208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Also see talk by Daniel Hayes.</a:t>
            </a:r>
          </a:p>
          <a:p>
            <a:r>
              <a:rPr lang="en-US" baseline="0" dirty="0"/>
              <a:t> </a:t>
            </a:r>
            <a:r>
              <a:rPr lang="en-US" dirty="0"/>
              <a:t>“The</a:t>
            </a:r>
            <a:r>
              <a:rPr lang="en-US" baseline="0" dirty="0"/>
              <a:t> </a:t>
            </a:r>
            <a:r>
              <a:rPr lang="en-US" dirty="0"/>
              <a:t>Question”</a:t>
            </a:r>
            <a:r>
              <a:rPr lang="en-US" baseline="0" dirty="0"/>
              <a:t> may change over time, but at a particular point in time a particular question is being addressed by a particular analysis – that question should be stated clearly when results are being presented</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6</a:t>
            </a:fld>
            <a:endParaRPr lang="en-US"/>
          </a:p>
        </p:txBody>
      </p:sp>
    </p:spTree>
    <p:extLst>
      <p:ext uri="{BB962C8B-B14F-4D97-AF65-F5344CB8AC3E}">
        <p14:creationId xmlns:p14="http://schemas.microsoft.com/office/powerpoint/2010/main" val="3141316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7</a:t>
            </a:fld>
            <a:endParaRPr lang="en-US"/>
          </a:p>
        </p:txBody>
      </p:sp>
    </p:spTree>
    <p:extLst>
      <p:ext uri="{BB962C8B-B14F-4D97-AF65-F5344CB8AC3E}">
        <p14:creationId xmlns:p14="http://schemas.microsoft.com/office/powerpoint/2010/main" val="476571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8</a:t>
            </a:fld>
            <a:endParaRPr lang="en-US"/>
          </a:p>
        </p:txBody>
      </p:sp>
    </p:spTree>
    <p:extLst>
      <p:ext uri="{BB962C8B-B14F-4D97-AF65-F5344CB8AC3E}">
        <p14:creationId xmlns:p14="http://schemas.microsoft.com/office/powerpoint/2010/main" val="2611371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9</a:t>
            </a:fld>
            <a:endParaRPr lang="en-US"/>
          </a:p>
        </p:txBody>
      </p:sp>
    </p:spTree>
    <p:extLst>
      <p:ext uri="{BB962C8B-B14F-4D97-AF65-F5344CB8AC3E}">
        <p14:creationId xmlns:p14="http://schemas.microsoft.com/office/powerpoint/2010/main" val="2362620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a:t>
            </a:r>
            <a:r>
              <a:rPr lang="en-US" baseline="0" dirty="0"/>
              <a:t> that I know happened at this particular site, but I’m sure this scenario unfolded at many other sites.</a:t>
            </a:r>
          </a:p>
          <a:p>
            <a:endParaRPr lang="en-US" baseline="0" dirty="0"/>
          </a:p>
          <a:p>
            <a:r>
              <a:rPr lang="en-US" baseline="0" dirty="0"/>
              <a:t>Deming to Ford – The problem with your manufacturing process is your management</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10</a:t>
            </a:fld>
            <a:endParaRPr lang="en-US"/>
          </a:p>
        </p:txBody>
      </p:sp>
    </p:spTree>
    <p:extLst>
      <p:ext uri="{BB962C8B-B14F-4D97-AF65-F5344CB8AC3E}">
        <p14:creationId xmlns:p14="http://schemas.microsoft.com/office/powerpoint/2010/main" val="4201537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11</a:t>
            </a:fld>
            <a:endParaRPr lang="en-US"/>
          </a:p>
        </p:txBody>
      </p:sp>
    </p:spTree>
    <p:extLst>
      <p:ext uri="{BB962C8B-B14F-4D97-AF65-F5344CB8AC3E}">
        <p14:creationId xmlns:p14="http://schemas.microsoft.com/office/powerpoint/2010/main" val="1311958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 is Most important</a:t>
            </a:r>
            <a:r>
              <a:rPr lang="en-US" baseline="0" dirty="0"/>
              <a:t> as subsequent steps may very well assume good quality data.</a:t>
            </a:r>
          </a:p>
          <a:p>
            <a:endParaRPr lang="en-US" dirty="0"/>
          </a:p>
          <a:p>
            <a:r>
              <a:rPr lang="en-US" baseline="0" dirty="0"/>
              <a:t>Quality of the data that will make or break the day: It is at this step that we can catch problems and Learn and Improve.</a:t>
            </a:r>
          </a:p>
          <a:p>
            <a:endParaRPr lang="en-US" baseline="0" dirty="0"/>
          </a:p>
          <a:p>
            <a:r>
              <a:rPr lang="en-US" baseline="0" dirty="0"/>
              <a:t>QA is an active, engaging process – not just a routine that needs to be checked off a list.  </a:t>
            </a:r>
          </a:p>
          <a:p>
            <a:endParaRPr lang="en-US" baseline="0" dirty="0"/>
          </a:p>
          <a:p>
            <a:r>
              <a:rPr lang="en-US" baseline="0" dirty="0"/>
              <a:t>At this point in NGS, every data set should have some interesting quality features.  The results of QA, the report, should not be “pass </a:t>
            </a:r>
            <a:r>
              <a:rPr lang="en-US" baseline="0" dirty="0" err="1"/>
              <a:t>qa</a:t>
            </a:r>
            <a:r>
              <a:rPr lang="en-US" baseline="0" dirty="0"/>
              <a:t>”, but rather “here are the quality features of this data set”</a:t>
            </a:r>
          </a:p>
          <a:p>
            <a:endParaRPr lang="en-US" dirty="0"/>
          </a:p>
          <a:p>
            <a:r>
              <a:rPr lang="en-US" dirty="0"/>
              <a:t>Sometimes business</a:t>
            </a:r>
            <a:r>
              <a:rPr lang="en-US" baseline="0" dirty="0"/>
              <a:t> constraints force us to take shortcuts – this is not a good place to make cuts.</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12</a:t>
            </a:fld>
            <a:endParaRPr lang="en-US"/>
          </a:p>
        </p:txBody>
      </p:sp>
    </p:spTree>
    <p:extLst>
      <p:ext uri="{BB962C8B-B14F-4D97-AF65-F5344CB8AC3E}">
        <p14:creationId xmlns:p14="http://schemas.microsoft.com/office/powerpoint/2010/main" val="1352617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we were to commercialize a mutation profiling product, we might want to get samples from future customers as part of the evaluation set.</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13</a:t>
            </a:fld>
            <a:endParaRPr lang="en-US"/>
          </a:p>
        </p:txBody>
      </p:sp>
    </p:spTree>
    <p:extLst>
      <p:ext uri="{BB962C8B-B14F-4D97-AF65-F5344CB8AC3E}">
        <p14:creationId xmlns:p14="http://schemas.microsoft.com/office/powerpoint/2010/main" val="2262669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of performance estimate is more important.  Performance can always be improved. IF we have an accurate estimate, we will see that P needs improvement.  </a:t>
            </a:r>
          </a:p>
          <a:p>
            <a:r>
              <a:rPr lang="en-US" dirty="0"/>
              <a:t>Idea: Instead of setting a </a:t>
            </a:r>
            <a:r>
              <a:rPr lang="en-US" dirty="0" err="1"/>
              <a:t>Perf</a:t>
            </a:r>
            <a:r>
              <a:rPr lang="en-US" dirty="0"/>
              <a:t> target for bonus – link bonus to accuracy of training data </a:t>
            </a:r>
            <a:r>
              <a:rPr lang="en-US" dirty="0" err="1"/>
              <a:t>Perf</a:t>
            </a:r>
            <a:r>
              <a:rPr lang="en-US" dirty="0"/>
              <a:t> as estimate of Evaluation data </a:t>
            </a:r>
            <a:r>
              <a:rPr lang="en-US" dirty="0" err="1"/>
              <a:t>Perf</a:t>
            </a:r>
            <a:endParaRPr lang="en-US" dirty="0"/>
          </a:p>
          <a:p>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14</a:t>
            </a:fld>
            <a:endParaRPr lang="en-US"/>
          </a:p>
        </p:txBody>
      </p:sp>
    </p:spTree>
    <p:extLst>
      <p:ext uri="{BB962C8B-B14F-4D97-AF65-F5344CB8AC3E}">
        <p14:creationId xmlns:p14="http://schemas.microsoft.com/office/powerpoint/2010/main" val="2385306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15</a:t>
            </a:fld>
            <a:endParaRPr lang="en-US"/>
          </a:p>
        </p:txBody>
      </p:sp>
    </p:spTree>
    <p:extLst>
      <p:ext uri="{BB962C8B-B14F-4D97-AF65-F5344CB8AC3E}">
        <p14:creationId xmlns:p14="http://schemas.microsoft.com/office/powerpoint/2010/main" val="1620729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16</a:t>
            </a:fld>
            <a:endParaRPr lang="en-US"/>
          </a:p>
        </p:txBody>
      </p:sp>
    </p:spTree>
    <p:extLst>
      <p:ext uri="{BB962C8B-B14F-4D97-AF65-F5344CB8AC3E}">
        <p14:creationId xmlns:p14="http://schemas.microsoft.com/office/powerpoint/2010/main" val="875401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17</a:t>
            </a:fld>
            <a:endParaRPr lang="en-US"/>
          </a:p>
        </p:txBody>
      </p:sp>
    </p:spTree>
    <p:extLst>
      <p:ext uri="{BB962C8B-B14F-4D97-AF65-F5344CB8AC3E}">
        <p14:creationId xmlns:p14="http://schemas.microsoft.com/office/powerpoint/2010/main" val="15602413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18</a:t>
            </a:fld>
            <a:endParaRPr lang="en-US"/>
          </a:p>
        </p:txBody>
      </p:sp>
    </p:spTree>
    <p:extLst>
      <p:ext uri="{BB962C8B-B14F-4D97-AF65-F5344CB8AC3E}">
        <p14:creationId xmlns:p14="http://schemas.microsoft.com/office/powerpoint/2010/main" val="358575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it is because these principles</a:t>
            </a:r>
            <a:r>
              <a:rPr lang="en-US" baseline="0" dirty="0"/>
              <a:t> are so basic that they are easily and often ignored?</a:t>
            </a:r>
          </a:p>
          <a:p>
            <a:r>
              <a:rPr lang="en-US" baseline="0" dirty="0"/>
              <a:t>Everybody’s responsibility – what is the evidence?</a:t>
            </a:r>
            <a:endParaRPr lang="en-US" dirty="0"/>
          </a:p>
        </p:txBody>
      </p:sp>
      <p:sp>
        <p:nvSpPr>
          <p:cNvPr id="4" name="Slide Number Placeholder 3"/>
          <p:cNvSpPr>
            <a:spLocks noGrp="1"/>
          </p:cNvSpPr>
          <p:nvPr>
            <p:ph type="sldNum" sz="quarter" idx="10"/>
          </p:nvPr>
        </p:nvSpPr>
        <p:spPr/>
        <p:txBody>
          <a:bodyPr/>
          <a:lstStyle/>
          <a:p>
            <a:fld id="{51A59A9F-3B11-0A4F-893C-D31C4A84DEB6}" type="slidenum">
              <a:rPr lang="en-US" smtClean="0"/>
              <a:t>19</a:t>
            </a:fld>
            <a:endParaRPr lang="en-US"/>
          </a:p>
        </p:txBody>
      </p:sp>
    </p:spTree>
    <p:extLst>
      <p:ext uri="{BB962C8B-B14F-4D97-AF65-F5344CB8AC3E}">
        <p14:creationId xmlns:p14="http://schemas.microsoft.com/office/powerpoint/2010/main" val="16624539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20</a:t>
            </a:fld>
            <a:endParaRPr lang="en-US"/>
          </a:p>
        </p:txBody>
      </p:sp>
    </p:spTree>
    <p:extLst>
      <p:ext uri="{BB962C8B-B14F-4D97-AF65-F5344CB8AC3E}">
        <p14:creationId xmlns:p14="http://schemas.microsoft.com/office/powerpoint/2010/main" val="4162485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A59A9F-3B11-0A4F-893C-D31C4A84DEB6}" type="slidenum">
              <a:rPr lang="en-US" smtClean="0"/>
              <a:t>21</a:t>
            </a:fld>
            <a:endParaRPr lang="en-US"/>
          </a:p>
        </p:txBody>
      </p:sp>
    </p:spTree>
    <p:extLst>
      <p:ext uri="{BB962C8B-B14F-4D97-AF65-F5344CB8AC3E}">
        <p14:creationId xmlns:p14="http://schemas.microsoft.com/office/powerpoint/2010/main" val="16100681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plash Page">
    <p:spTree>
      <p:nvGrpSpPr>
        <p:cNvPr id="1" name=""/>
        <p:cNvGrpSpPr/>
        <p:nvPr/>
      </p:nvGrpSpPr>
      <p:grpSpPr>
        <a:xfrm>
          <a:off x="0" y="0"/>
          <a:ext cx="0" cy="0"/>
          <a:chOff x="0" y="0"/>
          <a:chExt cx="0" cy="0"/>
        </a:xfrm>
      </p:grpSpPr>
      <p:pic>
        <p:nvPicPr>
          <p:cNvPr id="5" name="Picture 4" descr="splash page logo.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05261" y="2540000"/>
            <a:ext cx="5733479" cy="1752658"/>
          </a:xfrm>
          <a:prstGeom prst="rect">
            <a:avLst/>
          </a:prstGeom>
        </p:spPr>
      </p:pic>
      <p:sp>
        <p:nvSpPr>
          <p:cNvPr id="6" name="Rectangle 5"/>
          <p:cNvSpPr/>
          <p:nvPr userDrawn="1"/>
        </p:nvSpPr>
        <p:spPr>
          <a:xfrm>
            <a:off x="0" y="0"/>
            <a:ext cx="9144000" cy="6858000"/>
          </a:xfrm>
          <a:prstGeom prst="rect">
            <a:avLst/>
          </a:prstGeom>
          <a:gradFill>
            <a:gsLst>
              <a:gs pos="5000">
                <a:srgbClr val="285315"/>
              </a:gs>
              <a:gs pos="100000">
                <a:srgbClr val="5BB232"/>
              </a:gs>
              <a:gs pos="70000">
                <a:srgbClr val="60BD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descr="g_colored.png"/>
          <p:cNvPicPr>
            <a:picLocks noChangeAspect="1"/>
          </p:cNvPicPr>
          <p:nvPr userDrawn="1"/>
        </p:nvPicPr>
        <p:blipFill rotWithShape="1">
          <a:blip r:embed="rId3">
            <a:alphaModFix amt="10000"/>
            <a:extLst>
              <a:ext uri="{28A0092B-C50C-407E-A947-70E740481C1C}">
                <a14:useLocalDpi xmlns:a14="http://schemas.microsoft.com/office/drawing/2010/main" val="0"/>
              </a:ext>
            </a:extLst>
          </a:blip>
          <a:srcRect l="26634" t="5728" r="32128" b="2625"/>
          <a:stretch/>
        </p:blipFill>
        <p:spPr>
          <a:xfrm>
            <a:off x="2595044" y="245532"/>
            <a:ext cx="3953912" cy="6590245"/>
          </a:xfrm>
          <a:prstGeom prst="rect">
            <a:avLst/>
          </a:prstGeom>
        </p:spPr>
      </p:pic>
      <p:pic>
        <p:nvPicPr>
          <p:cNvPr id="8" name="Picture 7" descr="splash page logo.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05261" y="2540000"/>
            <a:ext cx="5733479" cy="1752658"/>
          </a:xfrm>
          <a:prstGeom prst="rect">
            <a:avLst/>
          </a:prstGeom>
        </p:spPr>
      </p:pic>
    </p:spTree>
    <p:extLst>
      <p:ext uri="{BB962C8B-B14F-4D97-AF65-F5344CB8AC3E}">
        <p14:creationId xmlns:p14="http://schemas.microsoft.com/office/powerpoint/2010/main" val="1935190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Rectangle 5"/>
          <p:cNvSpPr/>
          <p:nvPr userDrawn="1"/>
        </p:nvSpPr>
        <p:spPr>
          <a:xfrm>
            <a:off x="0" y="-17506"/>
            <a:ext cx="9144000" cy="6875505"/>
          </a:xfrm>
          <a:prstGeom prst="rect">
            <a:avLst/>
          </a:prstGeom>
          <a:gradFill>
            <a:gsLst>
              <a:gs pos="5000">
                <a:srgbClr val="285315"/>
              </a:gs>
              <a:gs pos="100000">
                <a:srgbClr val="5BB232"/>
              </a:gs>
              <a:gs pos="70000">
                <a:srgbClr val="60BD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5" descr="g_colored.png"/>
          <p:cNvPicPr>
            <a:picLocks noChangeAspect="1"/>
          </p:cNvPicPr>
          <p:nvPr userDrawn="1"/>
        </p:nvPicPr>
        <p:blipFill>
          <a:blip r:embed="rId2">
            <a:extLst>
              <a:ext uri="{28A0092B-C50C-407E-A947-70E740481C1C}">
                <a14:useLocalDpi xmlns:a14="http://schemas.microsoft.com/office/drawing/2010/main" val="0"/>
              </a:ext>
            </a:extLst>
          </a:blip>
          <a:srcRect l="26634" t="5728" r="32127" b="2625"/>
          <a:stretch>
            <a:fillRect/>
          </a:stretch>
        </p:blipFill>
        <p:spPr bwMode="auto">
          <a:xfrm>
            <a:off x="5605463" y="0"/>
            <a:ext cx="3470275" cy="578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367862" y="3827505"/>
            <a:ext cx="8090338" cy="543739"/>
          </a:xfrm>
        </p:spPr>
        <p:txBody>
          <a:bodyPr anchor="b" anchorCtr="0">
            <a:spAutoFit/>
          </a:bodyPr>
          <a:lstStyle>
            <a:lvl1pPr>
              <a:defRPr sz="3200" b="1" baseline="0">
                <a:solidFill>
                  <a:schemeClr val="bg1"/>
                </a:solidFill>
              </a:defRPr>
            </a:lvl1pPr>
          </a:lstStyle>
          <a:p>
            <a:r>
              <a:rPr lang="en-US" dirty="0"/>
              <a:t>Click to Insert Presentation Title</a:t>
            </a:r>
          </a:p>
        </p:txBody>
      </p:sp>
      <p:sp>
        <p:nvSpPr>
          <p:cNvPr id="3" name="Subtitle 2"/>
          <p:cNvSpPr>
            <a:spLocks noGrp="1"/>
          </p:cNvSpPr>
          <p:nvPr>
            <p:ph type="subTitle" idx="1" hasCustomPrompt="1"/>
          </p:nvPr>
        </p:nvSpPr>
        <p:spPr>
          <a:xfrm>
            <a:off x="367862" y="4514850"/>
            <a:ext cx="7404538" cy="2038350"/>
          </a:xfrm>
        </p:spPr>
        <p:txBody>
          <a:bodyPr>
            <a:normAutofit/>
          </a:bodyPr>
          <a:lstStyle>
            <a:lvl1pPr marL="0" indent="0" algn="l">
              <a:buNone/>
              <a:defRPr sz="2000" b="1">
                <a:solidFill>
                  <a:srgbClr val="ADD39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 Date</a:t>
            </a:r>
          </a:p>
        </p:txBody>
      </p:sp>
    </p:spTree>
    <p:extLst>
      <p:ext uri="{BB962C8B-B14F-4D97-AF65-F5344CB8AC3E}">
        <p14:creationId xmlns:p14="http://schemas.microsoft.com/office/powerpoint/2010/main" val="2275663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Title Slide">
    <p:spTree>
      <p:nvGrpSpPr>
        <p:cNvPr id="1" name=""/>
        <p:cNvGrpSpPr/>
        <p:nvPr/>
      </p:nvGrpSpPr>
      <p:grpSpPr>
        <a:xfrm>
          <a:off x="0" y="0"/>
          <a:ext cx="0" cy="0"/>
          <a:chOff x="0" y="0"/>
          <a:chExt cx="0" cy="0"/>
        </a:xfrm>
      </p:grpSpPr>
      <p:sp>
        <p:nvSpPr>
          <p:cNvPr id="4" name="Rectangle 3"/>
          <p:cNvSpPr/>
          <p:nvPr userDrawn="1"/>
        </p:nvSpPr>
        <p:spPr>
          <a:xfrm>
            <a:off x="0" y="-17506"/>
            <a:ext cx="9144000" cy="6875505"/>
          </a:xfrm>
          <a:prstGeom prst="rect">
            <a:avLst/>
          </a:prstGeom>
          <a:gradFill>
            <a:gsLst>
              <a:gs pos="5000">
                <a:srgbClr val="285315"/>
              </a:gs>
              <a:gs pos="100000">
                <a:srgbClr val="5BB232"/>
              </a:gs>
              <a:gs pos="70000">
                <a:srgbClr val="60BD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67862" y="4495800"/>
            <a:ext cx="8079784" cy="487313"/>
          </a:xfrm>
        </p:spPr>
        <p:txBody>
          <a:bodyPr wrap="square" anchor="b" anchorCtr="0">
            <a:spAutoFit/>
          </a:bodyPr>
          <a:lstStyle>
            <a:lvl1pPr>
              <a:defRPr sz="2800" b="1">
                <a:solidFill>
                  <a:schemeClr val="bg1"/>
                </a:solidFill>
              </a:defRPr>
            </a:lvl1pPr>
          </a:lstStyle>
          <a:p>
            <a:r>
              <a:rPr lang="en-US"/>
              <a:t>Click to insert section title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a:t>
            </a:fld>
            <a:endParaRPr lang="en-US" dirty="0"/>
          </a:p>
        </p:txBody>
      </p:sp>
      <p:sp>
        <p:nvSpPr>
          <p:cNvPr id="10" name="Text Placeholder 9"/>
          <p:cNvSpPr>
            <a:spLocks noGrp="1"/>
          </p:cNvSpPr>
          <p:nvPr>
            <p:ph type="body" sz="quarter" idx="11" hasCustomPrompt="1"/>
          </p:nvPr>
        </p:nvSpPr>
        <p:spPr>
          <a:xfrm>
            <a:off x="368300" y="5105400"/>
            <a:ext cx="7404100" cy="1386380"/>
          </a:xfrm>
        </p:spPr>
        <p:txBody>
          <a:bodyPr>
            <a:normAutofit/>
          </a:bodyPr>
          <a:lstStyle>
            <a:lvl1pPr marL="0" indent="0">
              <a:buNone/>
              <a:defRPr sz="2000" b="1">
                <a:solidFill>
                  <a:srgbClr val="ADD392"/>
                </a:solidFill>
              </a:defRPr>
            </a:lvl1pPr>
          </a:lstStyle>
          <a:p>
            <a:pPr lvl="0"/>
            <a:r>
              <a:rPr lang="en-US"/>
              <a:t>Click to insert subtitle</a:t>
            </a:r>
          </a:p>
        </p:txBody>
      </p:sp>
    </p:spTree>
    <p:extLst>
      <p:ext uri="{BB962C8B-B14F-4D97-AF65-F5344CB8AC3E}">
        <p14:creationId xmlns:p14="http://schemas.microsoft.com/office/powerpoint/2010/main" val="469819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spTree>
    <p:extLst>
      <p:ext uri="{BB962C8B-B14F-4D97-AF65-F5344CB8AC3E}">
        <p14:creationId xmlns:p14="http://schemas.microsoft.com/office/powerpoint/2010/main" val="3079636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with Subtitle">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457200" y="1725222"/>
            <a:ext cx="8229600" cy="4370778"/>
          </a:xfrm>
        </p:spPr>
        <p:txBody>
          <a:bodyPr/>
          <a:lstStyle>
            <a:lvl1pPr>
              <a:defRPr>
                <a:solidFill>
                  <a:srgbClr val="3B3B3B"/>
                </a:solidFill>
              </a:defRPr>
            </a:lvl1pPr>
            <a:lvl2pPr>
              <a:defRPr>
                <a:solidFill>
                  <a:srgbClr val="3B3B3B"/>
                </a:solidFill>
              </a:defRPr>
            </a:lvl2pPr>
            <a:lvl3pPr>
              <a:defRPr>
                <a:solidFill>
                  <a:srgbClr val="3B3B3B"/>
                </a:solidFill>
              </a:defRPr>
            </a:lvl3pPr>
            <a:lvl4pPr>
              <a:defRPr>
                <a:solidFill>
                  <a:srgbClr val="3B3B3B"/>
                </a:solidFill>
              </a:defRPr>
            </a:lvl4pPr>
            <a:lvl5pPr>
              <a:defRPr>
                <a:solidFill>
                  <a:srgbClr val="3B3B3B"/>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p:cNvSpPr>
            <a:spLocks noGrp="1"/>
          </p:cNvSpPr>
          <p:nvPr>
            <p:ph type="body" sz="quarter" idx="12"/>
          </p:nvPr>
        </p:nvSpPr>
        <p:spPr>
          <a:xfrm>
            <a:off x="457200" y="1066800"/>
            <a:ext cx="8229600" cy="596096"/>
          </a:xfrm>
        </p:spPr>
        <p:txBody>
          <a:bodyPr anchor="b" anchorCtr="0">
            <a:normAutofit/>
          </a:bodyPr>
          <a:lstStyle>
            <a:lvl1pPr marL="0" indent="0">
              <a:buNone/>
              <a:defRPr sz="2000" b="1">
                <a:solidFill>
                  <a:srgbClr val="5B6770"/>
                </a:solidFill>
              </a:defRPr>
            </a:lvl1pPr>
          </a:lstStyle>
          <a:p>
            <a:pPr lvl="0"/>
            <a:r>
              <a:rPr lang="en-US" dirty="0"/>
              <a:t>Click to edit Master text styles</a:t>
            </a:r>
          </a:p>
        </p:txBody>
      </p:sp>
      <p:sp>
        <p:nvSpPr>
          <p:cNvPr id="6"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53591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sp>
        <p:nvSpPr>
          <p:cNvPr id="7" name="Content Placeholder 6"/>
          <p:cNvSpPr>
            <a:spLocks noGrp="1"/>
          </p:cNvSpPr>
          <p:nvPr>
            <p:ph sz="quarter" idx="10"/>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1"/>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842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a:t>
            </a:fld>
            <a:endParaRPr lang="en-US" dirty="0"/>
          </a:p>
        </p:txBody>
      </p:sp>
    </p:spTree>
    <p:extLst>
      <p:ext uri="{BB962C8B-B14F-4D97-AF65-F5344CB8AC3E}">
        <p14:creationId xmlns:p14="http://schemas.microsoft.com/office/powerpoint/2010/main" val="67814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068A13EE-B1C7-7041-974E-A5C3361A8644}" type="slidenum">
              <a:rPr lang="en-US" smtClean="0"/>
              <a:pPr/>
              <a:t>‹#›</a:t>
            </a:fld>
            <a:endParaRPr lang="en-US" dirty="0"/>
          </a:p>
        </p:txBody>
      </p:sp>
    </p:spTree>
    <p:extLst>
      <p:ext uri="{BB962C8B-B14F-4D97-AF65-F5344CB8AC3E}">
        <p14:creationId xmlns:p14="http://schemas.microsoft.com/office/powerpoint/2010/main" val="2917055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GEN_Corp_Logo_RGB_REV.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180173" y="6392894"/>
            <a:ext cx="1506627" cy="329575"/>
          </a:xfrm>
          <a:prstGeom prst="rect">
            <a:avLst/>
          </a:prstGeom>
        </p:spPr>
      </p:pic>
      <p:sp>
        <p:nvSpPr>
          <p:cNvPr id="13" name="Rectangle 12"/>
          <p:cNvSpPr/>
          <p:nvPr userDrawn="1"/>
        </p:nvSpPr>
        <p:spPr>
          <a:xfrm>
            <a:off x="0" y="6188525"/>
            <a:ext cx="9143999" cy="669474"/>
          </a:xfrm>
          <a:prstGeom prst="rect">
            <a:avLst/>
          </a:prstGeom>
          <a:gradFill>
            <a:gsLst>
              <a:gs pos="5000">
                <a:srgbClr val="285315"/>
              </a:gs>
              <a:gs pos="100000">
                <a:srgbClr val="5BB232"/>
              </a:gs>
              <a:gs pos="70000">
                <a:srgbClr val="51A700"/>
              </a:gs>
              <a:gs pos="33000">
                <a:srgbClr val="3D7D00"/>
              </a:gs>
            </a:gsLs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68938"/>
            <a:ext cx="8083993" cy="88569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62520"/>
            <a:ext cx="8229600" cy="48636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11"/>
          <p:cNvSpPr>
            <a:spLocks noGrp="1"/>
          </p:cNvSpPr>
          <p:nvPr>
            <p:ph type="sldNum" sz="quarter" idx="4"/>
          </p:nvPr>
        </p:nvSpPr>
        <p:spPr>
          <a:xfrm>
            <a:off x="0" y="6188525"/>
            <a:ext cx="544624" cy="669475"/>
          </a:xfrm>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a:t>
            </a:fld>
            <a:endParaRPr lang="en-US" dirty="0"/>
          </a:p>
        </p:txBody>
      </p:sp>
      <p:cxnSp>
        <p:nvCxnSpPr>
          <p:cNvPr id="9" name="Straight Connector 8"/>
          <p:cNvCxnSpPr/>
          <p:nvPr userDrawn="1"/>
        </p:nvCxnSpPr>
        <p:spPr>
          <a:xfrm>
            <a:off x="61032" y="1029339"/>
            <a:ext cx="9082968" cy="0"/>
          </a:xfrm>
          <a:prstGeom prst="line">
            <a:avLst/>
          </a:prstGeom>
          <a:ln w="19050" cmpd="sng">
            <a:solidFill>
              <a:srgbClr val="64A70B"/>
            </a:solidFill>
            <a:prstDash val="dot"/>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pic>
        <p:nvPicPr>
          <p:cNvPr id="8" name="Picture 7" descr="G.png"/>
          <p:cNvPicPr>
            <a:picLocks noChangeAspect="1"/>
          </p:cNvPicPr>
          <p:nvPr userDrawn="1"/>
        </p:nvPicPr>
        <p:blipFill rotWithShape="1">
          <a:blip r:embed="rId11">
            <a:extLst>
              <a:ext uri="{28A0092B-C50C-407E-A947-70E740481C1C}">
                <a14:useLocalDpi xmlns:a14="http://schemas.microsoft.com/office/drawing/2010/main" val="0"/>
              </a:ext>
            </a:extLst>
          </a:blip>
          <a:srcRect r="1635"/>
          <a:stretch/>
        </p:blipFill>
        <p:spPr>
          <a:xfrm>
            <a:off x="8541193" y="68937"/>
            <a:ext cx="602807" cy="927627"/>
          </a:xfrm>
          <a:prstGeom prst="rect">
            <a:avLst/>
          </a:prstGeom>
        </p:spPr>
      </p:pic>
    </p:spTree>
    <p:extLst>
      <p:ext uri="{BB962C8B-B14F-4D97-AF65-F5344CB8AC3E}">
        <p14:creationId xmlns:p14="http://schemas.microsoft.com/office/powerpoint/2010/main" val="103035532"/>
      </p:ext>
    </p:extLst>
  </p:cSld>
  <p:clrMap bg1="lt1" tx1="dk1" bg2="lt2" tx2="dk2" accent1="accent1" accent2="accent2" accent3="accent3" accent4="accent4" accent5="accent5" accent6="accent6" hlink="hlink" folHlink="folHlink"/>
  <p:sldLayoutIdLst>
    <p:sldLayoutId id="2147483661" r:id="rId1"/>
    <p:sldLayoutId id="2147483649" r:id="rId2"/>
    <p:sldLayoutId id="2147483662" r:id="rId3"/>
    <p:sldLayoutId id="2147483650" r:id="rId4"/>
    <p:sldLayoutId id="2147483660" r:id="rId5"/>
    <p:sldLayoutId id="2147483652" r:id="rId6"/>
    <p:sldLayoutId id="2147483654" r:id="rId7"/>
    <p:sldLayoutId id="2147483655" r:id="rId8"/>
  </p:sldLayoutIdLst>
  <p:hf hdr="0" ftr="0" dt="0"/>
  <p:txStyles>
    <p:titleStyle>
      <a:lvl1pPr algn="l" defTabSz="457200" rtl="0" eaLnBrk="1" latinLnBrk="0" hangingPunct="1">
        <a:lnSpc>
          <a:spcPct val="90000"/>
        </a:lnSpc>
        <a:spcBef>
          <a:spcPct val="0"/>
        </a:spcBef>
        <a:buNone/>
        <a:defRPr sz="2800" kern="1200">
          <a:solidFill>
            <a:schemeClr val="accent3"/>
          </a:solidFill>
          <a:latin typeface="Arial"/>
          <a:ea typeface="+mj-ea"/>
          <a:cs typeface="Arial"/>
        </a:defRPr>
      </a:lvl1pPr>
    </p:titleStyle>
    <p:bodyStyle>
      <a:lvl1pPr marL="169863" indent="-169863" algn="l" defTabSz="457200" rtl="0" eaLnBrk="1" latinLnBrk="0" hangingPunct="1">
        <a:lnSpc>
          <a:spcPct val="90000"/>
        </a:lnSpc>
        <a:spcBef>
          <a:spcPts val="800"/>
        </a:spcBef>
        <a:buClr>
          <a:srgbClr val="64A70B"/>
        </a:buClr>
        <a:buFont typeface="Arial"/>
        <a:buChar char="•"/>
        <a:defRPr sz="2300" kern="1200">
          <a:solidFill>
            <a:schemeClr val="tx1"/>
          </a:solidFill>
          <a:latin typeface="Arial"/>
          <a:ea typeface="+mn-ea"/>
          <a:cs typeface="Arial"/>
        </a:defRPr>
      </a:lvl1pPr>
      <a:lvl2pPr marL="347663" indent="-177800" algn="l" defTabSz="457200" rtl="0" eaLnBrk="1" latinLnBrk="0" hangingPunct="1">
        <a:lnSpc>
          <a:spcPct val="90000"/>
        </a:lnSpc>
        <a:spcBef>
          <a:spcPts val="800"/>
        </a:spcBef>
        <a:buClr>
          <a:srgbClr val="64A70B"/>
        </a:buClr>
        <a:buFont typeface="Arial"/>
        <a:buChar char="•"/>
        <a:defRPr sz="1900" kern="1200">
          <a:solidFill>
            <a:schemeClr val="tx1"/>
          </a:solidFill>
          <a:latin typeface="Arial"/>
          <a:ea typeface="+mn-ea"/>
          <a:cs typeface="Arial"/>
        </a:defRPr>
      </a:lvl2pPr>
      <a:lvl3pPr marL="515938" indent="-168275" algn="l" defTabSz="457200" rtl="0" eaLnBrk="1" latinLnBrk="0" hangingPunct="1">
        <a:lnSpc>
          <a:spcPct val="90000"/>
        </a:lnSpc>
        <a:spcBef>
          <a:spcPts val="600"/>
        </a:spcBef>
        <a:buClr>
          <a:srgbClr val="64A70B"/>
        </a:buClr>
        <a:buFont typeface="Arial"/>
        <a:buChar char="•"/>
        <a:defRPr sz="1700" kern="1200">
          <a:solidFill>
            <a:schemeClr val="tx1"/>
          </a:solidFill>
          <a:latin typeface="Arial"/>
          <a:ea typeface="+mn-ea"/>
          <a:cs typeface="Arial"/>
        </a:defRPr>
      </a:lvl3pPr>
      <a:lvl4pPr marL="685800" indent="-169863" algn="l" defTabSz="457200" rtl="0" eaLnBrk="1" latinLnBrk="0" hangingPunct="1">
        <a:lnSpc>
          <a:spcPct val="90000"/>
        </a:lnSpc>
        <a:spcBef>
          <a:spcPts val="400"/>
        </a:spcBef>
        <a:buClr>
          <a:srgbClr val="64A70B"/>
        </a:buClr>
        <a:buFont typeface="Arial"/>
        <a:buChar char="–"/>
        <a:defRPr sz="1700" kern="1200">
          <a:solidFill>
            <a:schemeClr val="tx1"/>
          </a:solidFill>
          <a:latin typeface="Arial"/>
          <a:ea typeface="+mn-ea"/>
          <a:cs typeface="Arial"/>
        </a:defRPr>
      </a:lvl4pPr>
      <a:lvl5pPr marL="855663" indent="-169863" algn="l" defTabSz="457200" rtl="0" eaLnBrk="1" latinLnBrk="0" hangingPunct="1">
        <a:lnSpc>
          <a:spcPct val="90000"/>
        </a:lnSpc>
        <a:spcBef>
          <a:spcPct val="20000"/>
        </a:spcBef>
        <a:buClr>
          <a:srgbClr val="64A70B"/>
        </a:buClr>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hyperlink" Target="OmicsTalk_References/Goya_2010.pdf" TargetMode="External"/><Relationship Id="rId3" Type="http://schemas.openxmlformats.org/officeDocument/2006/relationships/hyperlink" Target="OmicsTalk_References/Nakamura_2011.pdf" TargetMode="External"/><Relationship Id="rId7" Type="http://schemas.openxmlformats.org/officeDocument/2006/relationships/hyperlink" Target="http://varscan.sourceforge.net/"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hyperlink" Target="http://samtools.sourceforge.net/" TargetMode="External"/><Relationship Id="rId5" Type="http://schemas.openxmlformats.org/officeDocument/2006/relationships/hyperlink" Target="http://www.broadinstitute.org/gsa/wiki/index.php/Home_Page" TargetMode="External"/><Relationship Id="rId10" Type="http://schemas.openxmlformats.org/officeDocument/2006/relationships/hyperlink" Target="OmicsTalk_References/Muralidharan.et.al.2012.pdf" TargetMode="External"/><Relationship Id="rId4" Type="http://schemas.openxmlformats.org/officeDocument/2006/relationships/hyperlink" Target="OmicsTalk_References/MInoche_2011.pdf" TargetMode="External"/><Relationship Id="rId9" Type="http://schemas.openxmlformats.org/officeDocument/2006/relationships/hyperlink" Target="OmicsTalk_References/Niranjan_2011.pdf"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dictionary.reference.com/browse/crucial?s=t"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hyperlink" Target="OmicsTalk_References/IOM_Omics.pdf" TargetMode="External"/><Relationship Id="rId13" Type="http://schemas.openxmlformats.org/officeDocument/2006/relationships/hyperlink" Target="OmicsTalk_References/Simon_2003_supp.pdf" TargetMode="External"/><Relationship Id="rId3" Type="http://schemas.openxmlformats.org/officeDocument/2006/relationships/hyperlink" Target="file:///C:/Users/fcollin/Desktop" TargetMode="External"/><Relationship Id="rId7" Type="http://schemas.openxmlformats.org/officeDocument/2006/relationships/hyperlink" Target="OmicsTalk_References/Hayes_1996.pdf" TargetMode="External"/><Relationship Id="rId12" Type="http://schemas.openxmlformats.org/officeDocument/2006/relationships/hyperlink" Target="OmicsTalk_References/Simon_2003.pdf" TargetMode="External"/><Relationship Id="rId17" Type="http://schemas.openxmlformats.org/officeDocument/2006/relationships/hyperlink" Target="OmicsTalk_References/Villanueva_2006.pdf" TargetMode="External"/><Relationship Id="rId2" Type="http://schemas.openxmlformats.org/officeDocument/2006/relationships/notesSlide" Target="../notesSlides/notesSlide15.xml"/><Relationship Id="rId16" Type="http://schemas.openxmlformats.org/officeDocument/2006/relationships/hyperlink" Target="OmicsTalk_References/Varma&amp;Simon_BMC_Bio06.pdf" TargetMode="External"/><Relationship Id="rId1" Type="http://schemas.openxmlformats.org/officeDocument/2006/relationships/slideLayout" Target="../slideLayouts/slideLayout4.xml"/><Relationship Id="rId6" Type="http://schemas.openxmlformats.org/officeDocument/2006/relationships/hyperlink" Target="OmicsTalk_References/Baggerly_2009.pdf" TargetMode="External"/><Relationship Id="rId11" Type="http://schemas.openxmlformats.org/officeDocument/2006/relationships/hyperlink" Target="OmicsTalk_References/Petricoin_2002.pdf" TargetMode="External"/><Relationship Id="rId5" Type="http://schemas.openxmlformats.org/officeDocument/2006/relationships/hyperlink" Target="OmicsTalk_References/Baggerly_2005.pdf" TargetMode="External"/><Relationship Id="rId15" Type="http://schemas.openxmlformats.org/officeDocument/2006/relationships/hyperlink" Target="OmicsTalk_References/Teutsch_2009.pdf" TargetMode="External"/><Relationship Id="rId10" Type="http://schemas.openxmlformats.org/officeDocument/2006/relationships/hyperlink" Target="OmicsTalk_References/Kim&amp;Simon_2011_Supp.pdf" TargetMode="External"/><Relationship Id="rId4" Type="http://schemas.openxmlformats.org/officeDocument/2006/relationships/hyperlink" Target="OmicsTalk_References/Baggerly_2004.pdf" TargetMode="External"/><Relationship Id="rId9" Type="http://schemas.openxmlformats.org/officeDocument/2006/relationships/hyperlink" Target="OmicsTalk_References/Kim&amp;Simon_2011.pdf" TargetMode="External"/><Relationship Id="rId14" Type="http://schemas.openxmlformats.org/officeDocument/2006/relationships/hyperlink" Target="OmicsTalk_References/Simon_2009.pdf"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OmicsTalk_References/Auer_2010.pdf" TargetMode="External"/><Relationship Id="rId7" Type="http://schemas.openxmlformats.org/officeDocument/2006/relationships/hyperlink" Target="OmicsTalk_References/BatchEffects_2009.pdf"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hyperlink" Target="OmicsTalk_References/Gagon-Bartsch_2011.pdf" TargetMode="External"/><Relationship Id="rId5" Type="http://schemas.openxmlformats.org/officeDocument/2006/relationships/hyperlink" Target="OmicsTalk_References/Leek_Storey_PlosGen_2007.pdf" TargetMode="External"/><Relationship Id="rId4" Type="http://schemas.openxmlformats.org/officeDocument/2006/relationships/hyperlink" Target="http://www.genetics.org/content/suppl/2010/05/04/genetics.110.114983.DC1"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hyperlink" Target="OmicsTalk_References/Simon_2009.pdf" TargetMode="Externa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367862" y="3392515"/>
            <a:ext cx="8090338" cy="978729"/>
          </a:xfrm>
        </p:spPr>
        <p:txBody>
          <a:bodyPr/>
          <a:lstStyle/>
          <a:p>
            <a:r>
              <a:rPr lang="en-US" dirty="0">
                <a:solidFill>
                  <a:schemeClr val="tx1"/>
                </a:solidFill>
              </a:rPr>
              <a:t>Study Design and Analysis Guidelines for Genomic Scale Data</a:t>
            </a:r>
          </a:p>
        </p:txBody>
      </p:sp>
      <p:sp>
        <p:nvSpPr>
          <p:cNvPr id="3" name="Subtitle 2"/>
          <p:cNvSpPr>
            <a:spLocks noGrp="1"/>
          </p:cNvSpPr>
          <p:nvPr>
            <p:ph type="subTitle" idx="1"/>
          </p:nvPr>
        </p:nvSpPr>
        <p:spPr/>
        <p:txBody>
          <a:bodyPr/>
          <a:lstStyle/>
          <a:p>
            <a:r>
              <a:rPr lang="en-US" dirty="0">
                <a:solidFill>
                  <a:schemeClr val="tx1"/>
                </a:solidFill>
              </a:rPr>
              <a:t>Laying down the foundation for reproducible findings</a:t>
            </a:r>
          </a:p>
        </p:txBody>
      </p:sp>
    </p:spTree>
    <p:extLst>
      <p:ext uri="{BB962C8B-B14F-4D97-AF65-F5344CB8AC3E}">
        <p14:creationId xmlns:p14="http://schemas.microsoft.com/office/powerpoint/2010/main" val="7838791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56F65-D8EE-B73F-FC42-820D25682D9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F8A23245-C713-6434-6CFC-28B567A8FBA4}"/>
              </a:ext>
            </a:extLst>
          </p:cNvPr>
          <p:cNvSpPr>
            <a:spLocks noGrp="1"/>
          </p:cNvSpPr>
          <p:nvPr>
            <p:ph type="sldNum" sz="quarter" idx="10"/>
          </p:nvPr>
        </p:nvSpPr>
        <p:spPr/>
        <p:txBody>
          <a:bodyPr/>
          <a:lstStyle/>
          <a:p>
            <a:fld id="{068A13EE-B1C7-7041-974E-A5C3361A8644}" type="slidenum">
              <a:rPr lang="en-US" smtClean="0"/>
              <a:pPr/>
              <a:t>2</a:t>
            </a:fld>
            <a:endParaRPr lang="en-US" dirty="0"/>
          </a:p>
        </p:txBody>
      </p:sp>
      <p:pic>
        <p:nvPicPr>
          <p:cNvPr id="5" name="Picture 4" descr="A diagram of a test&#10;&#10;Description automatically generated">
            <a:extLst>
              <a:ext uri="{FF2B5EF4-FFF2-40B4-BE49-F238E27FC236}">
                <a16:creationId xmlns:a16="http://schemas.microsoft.com/office/drawing/2014/main" id="{00203E01-481D-EDE0-97A2-0EC1226A6936}"/>
              </a:ext>
            </a:extLst>
          </p:cNvPr>
          <p:cNvPicPr>
            <a:picLocks noChangeAspect="1"/>
          </p:cNvPicPr>
          <p:nvPr/>
        </p:nvPicPr>
        <p:blipFill>
          <a:blip r:embed="rId2"/>
          <a:stretch>
            <a:fillRect/>
          </a:stretch>
        </p:blipFill>
        <p:spPr>
          <a:xfrm>
            <a:off x="0" y="919617"/>
            <a:ext cx="8971965" cy="4297680"/>
          </a:xfrm>
          <a:prstGeom prst="rect">
            <a:avLst/>
          </a:prstGeom>
        </p:spPr>
      </p:pic>
      <p:pic>
        <p:nvPicPr>
          <p:cNvPr id="7" name="Graphic 6" descr="Lock with solid fill">
            <a:extLst>
              <a:ext uri="{FF2B5EF4-FFF2-40B4-BE49-F238E27FC236}">
                <a16:creationId xmlns:a16="http://schemas.microsoft.com/office/drawing/2014/main" id="{681E811F-982D-783C-2647-2D9E5F1737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2200" y="2806906"/>
            <a:ext cx="304800" cy="304800"/>
          </a:xfrm>
          <a:prstGeom prst="rect">
            <a:avLst/>
          </a:prstGeom>
        </p:spPr>
      </p:pic>
    </p:spTree>
    <p:extLst>
      <p:ext uri="{BB962C8B-B14F-4D97-AF65-F5344CB8AC3E}">
        <p14:creationId xmlns:p14="http://schemas.microsoft.com/office/powerpoint/2010/main" val="309022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2209800"/>
            <a:ext cx="8229600" cy="3913578"/>
          </a:xfrm>
        </p:spPr>
        <p:txBody>
          <a:bodyPr>
            <a:normAutofit/>
          </a:bodyPr>
          <a:lstStyle/>
          <a:p>
            <a:r>
              <a:rPr lang="en-US" sz="2000" dirty="0"/>
              <a:t>ETO: Recommendations for a discovery and development process to usher tests using </a:t>
            </a:r>
            <a:r>
              <a:rPr lang="en-US" sz="2000" dirty="0" err="1"/>
              <a:t>omics</a:t>
            </a:r>
            <a:r>
              <a:rPr lang="en-US" sz="2000" dirty="0"/>
              <a:t> based technologies into the clinical setting for use in patient care.</a:t>
            </a:r>
          </a:p>
          <a:p>
            <a:r>
              <a:rPr lang="en-US" sz="2000" dirty="0"/>
              <a:t>Guidelines for procedures and methods are intended to protect the public from the dangers of bringing flawed tests into the clinic.</a:t>
            </a:r>
          </a:p>
          <a:p>
            <a:r>
              <a:rPr lang="en-US" sz="2000" dirty="0"/>
              <a:t>Includes information dissemination guidelines meant to promote transparency to improve the success rate.</a:t>
            </a:r>
          </a:p>
          <a:p>
            <a:pPr>
              <a:buFont typeface="Wingdings" pitchFamily="2" charset="2"/>
              <a:buChar char="Ø"/>
            </a:pPr>
            <a:r>
              <a:rPr lang="en-US" sz="2000" dirty="0"/>
              <a:t> Adopting some of these guidelines will help our internal development process: avoid the propagation of flawed results and catch errors early.</a:t>
            </a:r>
            <a:endParaRPr lang="en-US" dirty="0"/>
          </a:p>
          <a:p>
            <a:pPr marL="0" indent="0">
              <a:buNone/>
            </a:pPr>
            <a:r>
              <a:rPr lang="en-US" sz="2000" dirty="0"/>
              <a:t>Where ETO report refers to an </a:t>
            </a:r>
            <a:r>
              <a:rPr lang="en-US" sz="2000" b="1" dirty="0" err="1"/>
              <a:t>Omics</a:t>
            </a:r>
            <a:r>
              <a:rPr lang="en-US" sz="2000" b="1" dirty="0"/>
              <a:t>-based test</a:t>
            </a:r>
            <a:r>
              <a:rPr lang="en-US" sz="2000" dirty="0"/>
              <a:t>, we can replace with </a:t>
            </a:r>
            <a:r>
              <a:rPr lang="en-US" sz="2000" b="1" dirty="0" err="1"/>
              <a:t>Omics</a:t>
            </a:r>
            <a:r>
              <a:rPr lang="en-US" sz="2000" b="1" dirty="0"/>
              <a:t>-based results</a:t>
            </a:r>
            <a:r>
              <a:rPr lang="en-US" sz="2000" dirty="0"/>
              <a:t>,</a:t>
            </a:r>
            <a:r>
              <a:rPr lang="en-US" sz="2000" b="1" dirty="0"/>
              <a:t> </a:t>
            </a:r>
            <a:r>
              <a:rPr lang="en-US" sz="2000" dirty="0"/>
              <a:t>the building blocks of eventual tests.</a:t>
            </a:r>
          </a:p>
        </p:txBody>
      </p:sp>
      <p:sp>
        <p:nvSpPr>
          <p:cNvPr id="3" name="Text Placeholder 2"/>
          <p:cNvSpPr>
            <a:spLocks noGrp="1"/>
          </p:cNvSpPr>
          <p:nvPr>
            <p:ph type="body" sz="quarter" idx="12"/>
          </p:nvPr>
        </p:nvSpPr>
        <p:spPr>
          <a:xfrm>
            <a:off x="533400" y="1066800"/>
            <a:ext cx="8229600" cy="1066800"/>
          </a:xfrm>
        </p:spPr>
        <p:txBody>
          <a:bodyPr>
            <a:noAutofit/>
          </a:bodyPr>
          <a:lstStyle/>
          <a:p>
            <a:r>
              <a:rPr lang="en-US" sz="1400" dirty="0"/>
              <a:t>“</a:t>
            </a:r>
            <a:r>
              <a:rPr lang="en-US" sz="1400" dirty="0" err="1"/>
              <a:t>Omics</a:t>
            </a:r>
            <a:r>
              <a:rPr lang="en-US" sz="1400" dirty="0"/>
              <a:t>” is a term encompassing multiple molecular disciplines, which involve the characterization of global sets of biological molecules such as DNAs, RNAs, proteins, and metabolites.</a:t>
            </a:r>
          </a:p>
          <a:p>
            <a:r>
              <a:rPr lang="en-US" sz="1400" dirty="0"/>
              <a:t>Key feature is that there are many more variables than analysis units in the data sets.</a:t>
            </a:r>
          </a:p>
        </p:txBody>
      </p:sp>
      <p:sp>
        <p:nvSpPr>
          <p:cNvPr id="4" name="Slide Number Placeholder 3"/>
          <p:cNvSpPr>
            <a:spLocks noGrp="1"/>
          </p:cNvSpPr>
          <p:nvPr>
            <p:ph type="sldNum" sz="quarter" idx="4"/>
          </p:nvPr>
        </p:nvSpPr>
        <p:spPr/>
        <p:txBody>
          <a:bodyPr/>
          <a:lstStyle/>
          <a:p>
            <a:fld id="{068A13EE-B1C7-7041-974E-A5C3361A8644}" type="slidenum">
              <a:rPr lang="en-US" smtClean="0"/>
              <a:pPr/>
              <a:t>3</a:t>
            </a:fld>
            <a:endParaRPr lang="en-US" dirty="0"/>
          </a:p>
        </p:txBody>
      </p:sp>
      <p:sp>
        <p:nvSpPr>
          <p:cNvPr id="5" name="Title 4"/>
          <p:cNvSpPr>
            <a:spLocks noGrp="1"/>
          </p:cNvSpPr>
          <p:nvPr>
            <p:ph type="title"/>
          </p:nvPr>
        </p:nvSpPr>
        <p:spPr>
          <a:xfrm>
            <a:off x="457200" y="109197"/>
            <a:ext cx="8083993" cy="881403"/>
          </a:xfrm>
        </p:spPr>
        <p:txBody>
          <a:bodyPr>
            <a:normAutofit fontScale="90000"/>
          </a:bodyPr>
          <a:lstStyle/>
          <a:p>
            <a:r>
              <a:rPr lang="en-US" dirty="0"/>
              <a:t>Evolution of Translational </a:t>
            </a:r>
            <a:r>
              <a:rPr lang="en-US" dirty="0" err="1"/>
              <a:t>Omics</a:t>
            </a:r>
            <a:r>
              <a:rPr lang="en-US" dirty="0"/>
              <a:t> (ETO): </a:t>
            </a:r>
            <a:br>
              <a:rPr lang="en-US" dirty="0"/>
            </a:br>
            <a:r>
              <a:rPr lang="en-US" dirty="0"/>
              <a:t>Lessons Learned and the Path Forward</a:t>
            </a:r>
            <a:br>
              <a:rPr lang="en-US" dirty="0"/>
            </a:br>
            <a:r>
              <a:rPr lang="en-US" dirty="0"/>
              <a:t>Institute of Medicine</a:t>
            </a:r>
          </a:p>
        </p:txBody>
      </p:sp>
    </p:spTree>
    <p:extLst>
      <p:ext uri="{BB962C8B-B14F-4D97-AF65-F5344CB8AC3E}">
        <p14:creationId xmlns:p14="http://schemas.microsoft.com/office/powerpoint/2010/main" val="121502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Omics</a:t>
            </a:r>
            <a:r>
              <a:rPr lang="en-US" dirty="0"/>
              <a:t>-based test development process.</a:t>
            </a:r>
          </a:p>
        </p:txBody>
      </p:sp>
      <p:sp>
        <p:nvSpPr>
          <p:cNvPr id="4" name="Slide Number Placeholder 3"/>
          <p:cNvSpPr>
            <a:spLocks noGrp="1"/>
          </p:cNvSpPr>
          <p:nvPr>
            <p:ph type="sldNum" sz="quarter" idx="4"/>
          </p:nvPr>
        </p:nvSpPr>
        <p:spPr/>
        <p:txBody>
          <a:bodyPr/>
          <a:lstStyle/>
          <a:p>
            <a:fld id="{068A13EE-B1C7-7041-974E-A5C3361A8644}" type="slidenum">
              <a:rPr lang="en-US" smtClean="0"/>
              <a:pPr/>
              <a:t>4</a:t>
            </a:fld>
            <a:endParaRPr lang="en-US" dirty="0"/>
          </a:p>
        </p:txBody>
      </p:sp>
      <p:pic>
        <p:nvPicPr>
          <p:cNvPr id="30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219200"/>
            <a:ext cx="8943602"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Up Arrow 2"/>
          <p:cNvSpPr/>
          <p:nvPr/>
        </p:nvSpPr>
        <p:spPr>
          <a:xfrm>
            <a:off x="734568" y="4588764"/>
            <a:ext cx="484632" cy="978408"/>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379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Omics</a:t>
            </a:r>
            <a:r>
              <a:rPr lang="en-US" dirty="0"/>
              <a:t>-based Model Development Process –</a:t>
            </a:r>
            <a:br>
              <a:rPr lang="en-US" dirty="0"/>
            </a:br>
            <a:r>
              <a:rPr lang="en-US" dirty="0"/>
              <a:t>Discovery Phase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5</a:t>
            </a:fld>
            <a:endParaRPr lang="en-US" dirty="0"/>
          </a:p>
        </p:txBody>
      </p:sp>
      <p:sp>
        <p:nvSpPr>
          <p:cNvPr id="5" name="TextBox 4"/>
          <p:cNvSpPr txBox="1"/>
          <p:nvPr/>
        </p:nvSpPr>
        <p:spPr>
          <a:xfrm>
            <a:off x="3034341" y="1022062"/>
            <a:ext cx="2585323" cy="584775"/>
          </a:xfrm>
          <a:prstGeom prst="rect">
            <a:avLst/>
          </a:prstGeom>
          <a:noFill/>
          <a:ln w="28575">
            <a:solidFill>
              <a:schemeClr val="accent2">
                <a:lumMod val="75000"/>
                <a:lumOff val="25000"/>
              </a:schemeClr>
            </a:solidFill>
          </a:ln>
        </p:spPr>
        <p:txBody>
          <a:bodyPr wrap="none" rtlCol="0" anchor="ctr">
            <a:spAutoFit/>
          </a:bodyPr>
          <a:lstStyle/>
          <a:p>
            <a:pPr algn="ctr"/>
            <a:r>
              <a:rPr lang="en-US" sz="1600" dirty="0"/>
              <a:t>Candidate </a:t>
            </a:r>
            <a:r>
              <a:rPr lang="en-US" sz="1600" b="1" dirty="0"/>
              <a:t>Model Developed</a:t>
            </a:r>
          </a:p>
          <a:p>
            <a:pPr algn="ctr"/>
            <a:r>
              <a:rPr lang="en-US" sz="1600" dirty="0"/>
              <a:t>On Training Data</a:t>
            </a:r>
          </a:p>
        </p:txBody>
      </p:sp>
      <p:sp>
        <p:nvSpPr>
          <p:cNvPr id="6" name="TextBox 5"/>
          <p:cNvSpPr txBox="1"/>
          <p:nvPr/>
        </p:nvSpPr>
        <p:spPr>
          <a:xfrm>
            <a:off x="2743200" y="3740765"/>
            <a:ext cx="3124200" cy="2308324"/>
          </a:xfrm>
          <a:prstGeom prst="rect">
            <a:avLst/>
          </a:prstGeom>
          <a:noFill/>
          <a:ln w="28575">
            <a:solidFill>
              <a:schemeClr val="accent2">
                <a:lumMod val="75000"/>
                <a:lumOff val="25000"/>
              </a:schemeClr>
            </a:solidFill>
          </a:ln>
        </p:spPr>
        <p:txBody>
          <a:bodyPr wrap="square" rtlCol="0" anchor="ctr">
            <a:spAutoFit/>
          </a:bodyPr>
          <a:lstStyle/>
          <a:p>
            <a:pPr algn="ctr"/>
            <a:r>
              <a:rPr lang="en-US" sz="1600" b="1" dirty="0"/>
              <a:t>Evaluation</a:t>
            </a:r>
            <a:r>
              <a:rPr lang="en-US" sz="1600" dirty="0"/>
              <a:t> of Candidate</a:t>
            </a:r>
          </a:p>
          <a:p>
            <a:pPr algn="ctr"/>
            <a:r>
              <a:rPr lang="en-US" sz="1600" dirty="0" err="1"/>
              <a:t>Omics</a:t>
            </a:r>
            <a:r>
              <a:rPr lang="en-US" sz="1600" dirty="0"/>
              <a:t>-Based Test using:</a:t>
            </a:r>
          </a:p>
          <a:p>
            <a:pPr algn="ctr"/>
            <a:endParaRPr lang="en-US" sz="1600" dirty="0"/>
          </a:p>
          <a:p>
            <a:pPr marL="342900" indent="-342900" algn="ctr">
              <a:buAutoNum type="arabicPeriod"/>
            </a:pPr>
            <a:r>
              <a:rPr lang="en-US" sz="1600" dirty="0"/>
              <a:t>Data from an </a:t>
            </a:r>
            <a:r>
              <a:rPr lang="en-US" sz="1600" b="1" dirty="0"/>
              <a:t>Independent</a:t>
            </a:r>
            <a:r>
              <a:rPr lang="en-US" sz="1600" dirty="0"/>
              <a:t> Sample set if available (preferred); -or-</a:t>
            </a:r>
          </a:p>
          <a:p>
            <a:pPr algn="ctr"/>
            <a:r>
              <a:rPr lang="en-US" sz="1600" dirty="0"/>
              <a:t>2.  Data from a subset of the Training Set NOT Used during training (less preferred).</a:t>
            </a:r>
          </a:p>
        </p:txBody>
      </p:sp>
      <p:sp>
        <p:nvSpPr>
          <p:cNvPr id="9" name="TextBox 8"/>
          <p:cNvSpPr txBox="1"/>
          <p:nvPr/>
        </p:nvSpPr>
        <p:spPr>
          <a:xfrm>
            <a:off x="1983118" y="6324600"/>
            <a:ext cx="4687758" cy="369332"/>
          </a:xfrm>
          <a:prstGeom prst="rect">
            <a:avLst/>
          </a:prstGeom>
          <a:noFill/>
        </p:spPr>
        <p:txBody>
          <a:bodyPr wrap="none" rtlCol="0">
            <a:spAutoFit/>
          </a:bodyPr>
          <a:lstStyle/>
          <a:p>
            <a:r>
              <a:rPr lang="en-US" dirty="0">
                <a:solidFill>
                  <a:schemeClr val="bg1"/>
                </a:solidFill>
              </a:rPr>
              <a:t>Simple enough – what could possibly go wrong?</a:t>
            </a:r>
          </a:p>
        </p:txBody>
      </p:sp>
      <p:sp>
        <p:nvSpPr>
          <p:cNvPr id="4" name="TextBox 3"/>
          <p:cNvSpPr txBox="1"/>
          <p:nvPr/>
        </p:nvSpPr>
        <p:spPr>
          <a:xfrm>
            <a:off x="6096000" y="1039504"/>
            <a:ext cx="2348848" cy="3416320"/>
          </a:xfrm>
          <a:prstGeom prst="rect">
            <a:avLst/>
          </a:prstGeom>
          <a:noFill/>
        </p:spPr>
        <p:txBody>
          <a:bodyPr wrap="none" rtlCol="0">
            <a:spAutoFit/>
          </a:bodyPr>
          <a:lstStyle/>
          <a:p>
            <a:r>
              <a:rPr lang="en-US" b="1" dirty="0">
                <a:solidFill>
                  <a:srgbClr val="FF0000"/>
                </a:solidFill>
              </a:rPr>
              <a:t>Mutation Profiling </a:t>
            </a:r>
          </a:p>
          <a:p>
            <a:r>
              <a:rPr lang="en-US" b="1" dirty="0">
                <a:solidFill>
                  <a:srgbClr val="FF0000"/>
                </a:solidFill>
              </a:rPr>
              <a:t>  Algorithm</a:t>
            </a:r>
          </a:p>
          <a:p>
            <a:pPr marL="285750" indent="-285750">
              <a:buFont typeface="Arial" pitchFamily="34" charset="0"/>
              <a:buChar char="•"/>
            </a:pPr>
            <a:endParaRPr lang="en-US" b="1" dirty="0">
              <a:solidFill>
                <a:srgbClr val="FF0000"/>
              </a:solidFill>
            </a:endParaRPr>
          </a:p>
          <a:p>
            <a:pPr marL="285750" indent="-285750">
              <a:buFont typeface="Arial" pitchFamily="34" charset="0"/>
              <a:buChar char="•"/>
            </a:pPr>
            <a:endParaRPr lang="en-US" b="1" dirty="0">
              <a:solidFill>
                <a:srgbClr val="FF0000"/>
              </a:solidFill>
            </a:endParaRPr>
          </a:p>
          <a:p>
            <a:r>
              <a:rPr lang="en-US" b="1" dirty="0">
                <a:solidFill>
                  <a:srgbClr val="FF0000"/>
                </a:solidFill>
              </a:rPr>
              <a:t>At lock-down, </a:t>
            </a:r>
          </a:p>
          <a:p>
            <a:r>
              <a:rPr lang="en-US" b="1" dirty="0">
                <a:solidFill>
                  <a:srgbClr val="FF0000"/>
                </a:solidFill>
              </a:rPr>
              <a:t> the evaluation criteria</a:t>
            </a:r>
          </a:p>
          <a:p>
            <a:r>
              <a:rPr lang="en-US" b="1" dirty="0">
                <a:solidFill>
                  <a:srgbClr val="FF0000"/>
                </a:solidFill>
              </a:rPr>
              <a:t> must be specified and</a:t>
            </a:r>
          </a:p>
          <a:p>
            <a:r>
              <a:rPr lang="en-US" b="1" dirty="0">
                <a:solidFill>
                  <a:srgbClr val="FF0000"/>
                </a:solidFill>
              </a:rPr>
              <a:t> Locked.</a:t>
            </a:r>
          </a:p>
          <a:p>
            <a:endParaRPr lang="en-US" b="1" dirty="0">
              <a:solidFill>
                <a:srgbClr val="FF0000"/>
              </a:solidFill>
            </a:endParaRPr>
          </a:p>
          <a:p>
            <a:pPr marL="285750" indent="-285750">
              <a:buFont typeface="Arial" pitchFamily="34" charset="0"/>
              <a:buChar char="•"/>
            </a:pPr>
            <a:endParaRPr lang="en-US" b="1" dirty="0">
              <a:solidFill>
                <a:srgbClr val="FF0000"/>
              </a:solidFill>
            </a:endParaRPr>
          </a:p>
          <a:p>
            <a:r>
              <a:rPr lang="en-US" b="1" dirty="0">
                <a:solidFill>
                  <a:srgbClr val="FF0000"/>
                </a:solidFill>
              </a:rPr>
              <a:t>All Validation Sets</a:t>
            </a:r>
          </a:p>
          <a:p>
            <a:r>
              <a:rPr lang="en-US" b="1" dirty="0">
                <a:solidFill>
                  <a:srgbClr val="FF0000"/>
                </a:solidFill>
              </a:rPr>
              <a:t>are Not Equal!</a:t>
            </a:r>
          </a:p>
        </p:txBody>
      </p:sp>
      <p:sp>
        <p:nvSpPr>
          <p:cNvPr id="11" name="TextBox 10"/>
          <p:cNvSpPr txBox="1"/>
          <p:nvPr/>
        </p:nvSpPr>
        <p:spPr>
          <a:xfrm>
            <a:off x="2955402" y="2217003"/>
            <a:ext cx="2743200" cy="830997"/>
          </a:xfrm>
          <a:prstGeom prst="rect">
            <a:avLst/>
          </a:prstGeom>
          <a:noFill/>
          <a:ln w="28575">
            <a:solidFill>
              <a:schemeClr val="accent2">
                <a:lumMod val="75000"/>
                <a:lumOff val="25000"/>
              </a:schemeClr>
            </a:solidFill>
          </a:ln>
        </p:spPr>
        <p:txBody>
          <a:bodyPr wrap="square" rtlCol="0" anchor="ctr">
            <a:spAutoFit/>
          </a:bodyPr>
          <a:lstStyle/>
          <a:p>
            <a:pPr algn="ctr"/>
            <a:r>
              <a:rPr lang="en-US" sz="1600" b="1" dirty="0"/>
              <a:t>Lock-Down </a:t>
            </a:r>
            <a:r>
              <a:rPr lang="en-US" sz="1600" dirty="0"/>
              <a:t>of All</a:t>
            </a:r>
          </a:p>
          <a:p>
            <a:pPr algn="ctr"/>
            <a:r>
              <a:rPr lang="en-US" sz="1600" dirty="0"/>
              <a:t>Analytical  and  Computational</a:t>
            </a:r>
          </a:p>
          <a:p>
            <a:pPr algn="ctr"/>
            <a:r>
              <a:rPr lang="en-US" sz="1600" dirty="0"/>
              <a:t> Procedures</a:t>
            </a:r>
          </a:p>
        </p:txBody>
      </p:sp>
      <p:cxnSp>
        <p:nvCxnSpPr>
          <p:cNvPr id="13" name="Straight Arrow Connector 12"/>
          <p:cNvCxnSpPr/>
          <p:nvPr/>
        </p:nvCxnSpPr>
        <p:spPr>
          <a:xfrm>
            <a:off x="4288897" y="1676400"/>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4267200" y="3205118"/>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07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normAutofit/>
          </a:bodyPr>
          <a:lstStyle/>
          <a:p>
            <a:r>
              <a:rPr lang="en-US" dirty="0"/>
              <a:t>Strength of Science: Do we trust the results?</a:t>
            </a:r>
          </a:p>
          <a:p>
            <a:r>
              <a:rPr lang="en-US" dirty="0"/>
              <a:t>Threats to validity of results include:</a:t>
            </a:r>
          </a:p>
          <a:p>
            <a:pPr lvl="1"/>
            <a:r>
              <a:rPr lang="en-US" dirty="0"/>
              <a:t>Weak or ill-specified question</a:t>
            </a:r>
          </a:p>
          <a:p>
            <a:pPr lvl="1"/>
            <a:r>
              <a:rPr lang="en-US" dirty="0"/>
              <a:t>Weak method</a:t>
            </a:r>
          </a:p>
          <a:p>
            <a:pPr lvl="2"/>
            <a:r>
              <a:rPr lang="en-US" dirty="0"/>
              <a:t>Design – biased or under-powered</a:t>
            </a:r>
          </a:p>
          <a:p>
            <a:pPr lvl="2"/>
            <a:r>
              <a:rPr lang="en-US" dirty="0" err="1"/>
              <a:t>Overfitting</a:t>
            </a:r>
            <a:r>
              <a:rPr lang="en-US" dirty="0"/>
              <a:t> - Analysis produces “chance” results</a:t>
            </a:r>
          </a:p>
          <a:p>
            <a:r>
              <a:rPr lang="en-US" dirty="0"/>
              <a:t>Bias in the examples that follow means that there are systematic (non-biological) differences between sample sets being compared</a:t>
            </a:r>
          </a:p>
          <a:p>
            <a:r>
              <a:rPr lang="en-US" dirty="0"/>
              <a:t>When these biases exist, one cannot attribute observed effects to biology (not without making some assumptions or getting more data and doing more analyses)</a:t>
            </a:r>
          </a:p>
        </p:txBody>
      </p:sp>
      <p:sp>
        <p:nvSpPr>
          <p:cNvPr id="3" name="Text Placeholder 2"/>
          <p:cNvSpPr>
            <a:spLocks noGrp="1"/>
          </p:cNvSpPr>
          <p:nvPr>
            <p:ph type="body" sz="quarter" idx="12"/>
          </p:nvPr>
        </p:nvSpPr>
        <p:spPr>
          <a:xfrm>
            <a:off x="457200" y="1080304"/>
            <a:ext cx="8229600" cy="596096"/>
          </a:xfrm>
        </p:spPr>
        <p:txBody>
          <a:bodyPr>
            <a:normAutofit lnSpcReduction="10000"/>
          </a:bodyPr>
          <a:lstStyle/>
          <a:p>
            <a:r>
              <a:rPr lang="en-US" dirty="0">
                <a:solidFill>
                  <a:schemeClr val="tx1"/>
                </a:solidFill>
              </a:rPr>
              <a:t>David F. </a:t>
            </a:r>
            <a:r>
              <a:rPr lang="en-US" dirty="0" err="1">
                <a:solidFill>
                  <a:schemeClr val="tx1"/>
                </a:solidFill>
              </a:rPr>
              <a:t>Ransohoff</a:t>
            </a:r>
            <a:r>
              <a:rPr lang="en-US" dirty="0">
                <a:solidFill>
                  <a:schemeClr val="tx1"/>
                </a:solidFill>
              </a:rPr>
              <a:t>, MD – “Bias is the main problem in non-randomized studies”</a:t>
            </a:r>
            <a:r>
              <a:rPr lang="en-US" baseline="30000" dirty="0"/>
              <a:t> </a:t>
            </a:r>
            <a:endParaRPr lang="en-US" dirty="0">
              <a:solidFill>
                <a:schemeClr val="tx1"/>
              </a:solidFill>
            </a:endParaRPr>
          </a:p>
        </p:txBody>
      </p:sp>
      <p:sp>
        <p:nvSpPr>
          <p:cNvPr id="4" name="Slide Number Placeholder 3"/>
          <p:cNvSpPr>
            <a:spLocks noGrp="1"/>
          </p:cNvSpPr>
          <p:nvPr>
            <p:ph type="sldNum" sz="quarter" idx="4"/>
          </p:nvPr>
        </p:nvSpPr>
        <p:spPr/>
        <p:txBody>
          <a:bodyPr/>
          <a:lstStyle/>
          <a:p>
            <a:fld id="{068A13EE-B1C7-7041-974E-A5C3361A8644}" type="slidenum">
              <a:rPr lang="en-US" smtClean="0"/>
              <a:pPr/>
              <a:t>6</a:t>
            </a:fld>
            <a:endParaRPr lang="en-US" dirty="0"/>
          </a:p>
        </p:txBody>
      </p:sp>
      <p:sp>
        <p:nvSpPr>
          <p:cNvPr id="5" name="Title 4"/>
          <p:cNvSpPr>
            <a:spLocks noGrp="1"/>
          </p:cNvSpPr>
          <p:nvPr>
            <p:ph type="title"/>
          </p:nvPr>
        </p:nvSpPr>
        <p:spPr/>
        <p:txBody>
          <a:bodyPr>
            <a:normAutofit fontScale="90000"/>
          </a:bodyPr>
          <a:lstStyle/>
          <a:p>
            <a:r>
              <a:rPr lang="en-US" dirty="0"/>
              <a:t>ASCO 21012 - New Diagnostics and Devices: Evaluating new technologies for diagnosis and prognosis</a:t>
            </a:r>
          </a:p>
        </p:txBody>
      </p:sp>
    </p:spTree>
    <p:extLst>
      <p:ext uri="{BB962C8B-B14F-4D97-AF65-F5344CB8AC3E}">
        <p14:creationId xmlns:p14="http://schemas.microsoft.com/office/powerpoint/2010/main" val="94032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normAutofit fontScale="92500" lnSpcReduction="10000"/>
          </a:bodyPr>
          <a:lstStyle/>
          <a:p>
            <a:r>
              <a:rPr lang="en-US" dirty="0"/>
              <a:t>A </a:t>
            </a:r>
            <a:r>
              <a:rPr lang="en-US" b="1" dirty="0"/>
              <a:t>training set </a:t>
            </a:r>
            <a:r>
              <a:rPr lang="en-US" dirty="0"/>
              <a:t>of mass spectroscopy data from 50 unaffected woman and 50 patients with ovarian cancer was used to build a classifier.</a:t>
            </a:r>
          </a:p>
          <a:p>
            <a:r>
              <a:rPr lang="en-US" dirty="0"/>
              <a:t>When applied in a </a:t>
            </a:r>
            <a:r>
              <a:rPr lang="en-US" b="1" dirty="0"/>
              <a:t>blinded</a:t>
            </a:r>
            <a:r>
              <a:rPr lang="en-US" dirty="0"/>
              <a:t> fashion to 50 ovarian cancers and 66 un-affected cases, the classifier correctly identified all cancer cases and misclassified 3 un-affected cases.</a:t>
            </a:r>
          </a:p>
          <a:p>
            <a:r>
              <a:rPr lang="en-US" dirty="0"/>
              <a:t>Sensitivity = 100%, Specificity = 95% using a </a:t>
            </a:r>
            <a:r>
              <a:rPr lang="en-US" b="1" dirty="0"/>
              <a:t>Fit Set/Test Set</a:t>
            </a:r>
            <a:r>
              <a:rPr lang="en-US" dirty="0"/>
              <a:t> approach – but these results were not reproducible.</a:t>
            </a:r>
          </a:p>
          <a:p>
            <a:r>
              <a:rPr lang="en-US" b="1" dirty="0"/>
              <a:t>What went wrong</a:t>
            </a:r>
            <a:r>
              <a:rPr lang="en-US" dirty="0"/>
              <a:t>?</a:t>
            </a:r>
          </a:p>
          <a:p>
            <a:pPr lvl="1"/>
            <a:r>
              <a:rPr lang="en-US" dirty="0"/>
              <a:t>Mass spec measurements for cancer and non-cancer cases were done on </a:t>
            </a:r>
            <a:r>
              <a:rPr lang="en-US" b="1" dirty="0"/>
              <a:t>different days</a:t>
            </a:r>
            <a:r>
              <a:rPr lang="en-US" dirty="0"/>
              <a:t>, prior to allocation to Fit Set or Test Set.  </a:t>
            </a:r>
            <a:r>
              <a:rPr lang="en-US" dirty="0" err="1"/>
              <a:t>Ie</a:t>
            </a:r>
            <a:r>
              <a:rPr lang="en-US" dirty="0"/>
              <a:t>. These were </a:t>
            </a:r>
            <a:r>
              <a:rPr lang="en-US" b="1" dirty="0"/>
              <a:t>not independent </a:t>
            </a:r>
            <a:r>
              <a:rPr lang="en-US" dirty="0"/>
              <a:t>data sets.</a:t>
            </a:r>
          </a:p>
          <a:p>
            <a:pPr lvl="1"/>
            <a:r>
              <a:rPr lang="en-US" dirty="0"/>
              <a:t>K. </a:t>
            </a:r>
            <a:r>
              <a:rPr lang="en-US" dirty="0" err="1"/>
              <a:t>Baggerly</a:t>
            </a:r>
            <a:r>
              <a:rPr lang="en-US" dirty="0"/>
              <a:t> “discovered” this by looking at the chip numbers. </a:t>
            </a:r>
          </a:p>
          <a:p>
            <a:pPr lvl="2"/>
            <a:r>
              <a:rPr lang="en-US" dirty="0"/>
              <a:t>Took a year took figure it out.</a:t>
            </a:r>
          </a:p>
          <a:p>
            <a:pPr lvl="2"/>
            <a:r>
              <a:rPr lang="en-US" dirty="0"/>
              <a:t>Full disclosure of methods would have made this problem readily apparent.</a:t>
            </a:r>
          </a:p>
        </p:txBody>
      </p:sp>
      <p:sp>
        <p:nvSpPr>
          <p:cNvPr id="3" name="Text Placeholder 2"/>
          <p:cNvSpPr>
            <a:spLocks noGrp="1"/>
          </p:cNvSpPr>
          <p:nvPr>
            <p:ph type="body" sz="quarter" idx="12"/>
          </p:nvPr>
        </p:nvSpPr>
        <p:spPr/>
        <p:txBody>
          <a:bodyPr>
            <a:normAutofit lnSpcReduction="10000"/>
          </a:bodyPr>
          <a:lstStyle/>
          <a:p>
            <a:r>
              <a:rPr lang="en-US" dirty="0"/>
              <a:t>The Lancet, Vol. 359, No. 9306. (16 February 2002), pp. 572-577, doi:10.1016/S0140-6736(02)07746-2</a:t>
            </a:r>
          </a:p>
        </p:txBody>
      </p:sp>
      <p:sp>
        <p:nvSpPr>
          <p:cNvPr id="4" name="Slide Number Placeholder 3"/>
          <p:cNvSpPr>
            <a:spLocks noGrp="1"/>
          </p:cNvSpPr>
          <p:nvPr>
            <p:ph type="sldNum" sz="quarter" idx="4"/>
          </p:nvPr>
        </p:nvSpPr>
        <p:spPr/>
        <p:txBody>
          <a:bodyPr/>
          <a:lstStyle/>
          <a:p>
            <a:fld id="{068A13EE-B1C7-7041-974E-A5C3361A8644}" type="slidenum">
              <a:rPr lang="en-US" smtClean="0"/>
              <a:pPr/>
              <a:t>7</a:t>
            </a:fld>
            <a:endParaRPr lang="en-US" dirty="0"/>
          </a:p>
        </p:txBody>
      </p:sp>
      <p:sp>
        <p:nvSpPr>
          <p:cNvPr id="5" name="Title 4"/>
          <p:cNvSpPr>
            <a:spLocks noGrp="1"/>
          </p:cNvSpPr>
          <p:nvPr>
            <p:ph type="title"/>
          </p:nvPr>
        </p:nvSpPr>
        <p:spPr/>
        <p:txBody>
          <a:bodyPr/>
          <a:lstStyle/>
          <a:p>
            <a:r>
              <a:rPr lang="en-US" dirty="0"/>
              <a:t>Bias Example 1 – Use of proteomic patterns in serum to identify ovarian cancer</a:t>
            </a:r>
          </a:p>
        </p:txBody>
      </p:sp>
    </p:spTree>
    <p:extLst>
      <p:ext uri="{BB962C8B-B14F-4D97-AF65-F5344CB8AC3E}">
        <p14:creationId xmlns:p14="http://schemas.microsoft.com/office/powerpoint/2010/main" val="105412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2133600"/>
            <a:ext cx="8229600" cy="2470666"/>
          </a:xfrm>
        </p:spPr>
        <p:txBody>
          <a:bodyPr>
            <a:normAutofit lnSpcReduction="10000"/>
          </a:bodyPr>
          <a:lstStyle/>
          <a:p>
            <a:r>
              <a:rPr lang="en-US" dirty="0"/>
              <a:t>Results: Peptide patterns are 100% sensitive and specific to Prostate cancer</a:t>
            </a:r>
          </a:p>
          <a:p>
            <a:r>
              <a:rPr lang="en-US" dirty="0"/>
              <a:t>Groups:</a:t>
            </a:r>
          </a:p>
          <a:p>
            <a:pPr lvl="1"/>
            <a:r>
              <a:rPr lang="en-US" dirty="0"/>
              <a:t>Cancer: </a:t>
            </a:r>
          </a:p>
          <a:p>
            <a:pPr lvl="1"/>
            <a:endParaRPr lang="en-US" dirty="0"/>
          </a:p>
          <a:p>
            <a:pPr lvl="1"/>
            <a:r>
              <a:rPr lang="en-US" dirty="0"/>
              <a:t>Control:</a:t>
            </a:r>
          </a:p>
          <a:p>
            <a:pPr marL="169863" lvl="1" indent="0">
              <a:buNone/>
            </a:pPr>
            <a:r>
              <a:rPr lang="en-US" dirty="0"/>
              <a:t> </a:t>
            </a:r>
          </a:p>
        </p:txBody>
      </p:sp>
      <p:sp>
        <p:nvSpPr>
          <p:cNvPr id="3" name="Text Placeholder 2"/>
          <p:cNvSpPr>
            <a:spLocks noGrp="1"/>
          </p:cNvSpPr>
          <p:nvPr>
            <p:ph type="body" sz="quarter" idx="12"/>
          </p:nvPr>
        </p:nvSpPr>
        <p:spPr/>
        <p:txBody>
          <a:bodyPr>
            <a:normAutofit lnSpcReduction="10000"/>
          </a:bodyPr>
          <a:lstStyle/>
          <a:p>
            <a:r>
              <a:rPr lang="en-US" dirty="0"/>
              <a:t>The Journal of Clinical Investigation, Vol. 116, No. 1. (08 January 2006), pp. 271-284, doi:10.1172/JCI26022</a:t>
            </a:r>
          </a:p>
        </p:txBody>
      </p:sp>
      <p:sp>
        <p:nvSpPr>
          <p:cNvPr id="4" name="Slide Number Placeholder 3"/>
          <p:cNvSpPr>
            <a:spLocks noGrp="1"/>
          </p:cNvSpPr>
          <p:nvPr>
            <p:ph type="sldNum" sz="quarter" idx="4"/>
          </p:nvPr>
        </p:nvSpPr>
        <p:spPr/>
        <p:txBody>
          <a:bodyPr/>
          <a:lstStyle/>
          <a:p>
            <a:fld id="{068A13EE-B1C7-7041-974E-A5C3361A8644}" type="slidenum">
              <a:rPr lang="en-US" smtClean="0"/>
              <a:pPr/>
              <a:t>8</a:t>
            </a:fld>
            <a:endParaRPr lang="en-US" dirty="0"/>
          </a:p>
        </p:txBody>
      </p:sp>
      <p:sp>
        <p:nvSpPr>
          <p:cNvPr id="5" name="Title 4"/>
          <p:cNvSpPr>
            <a:spLocks noGrp="1"/>
          </p:cNvSpPr>
          <p:nvPr>
            <p:ph type="title"/>
          </p:nvPr>
        </p:nvSpPr>
        <p:spPr/>
        <p:txBody>
          <a:bodyPr>
            <a:normAutofit/>
          </a:bodyPr>
          <a:lstStyle/>
          <a:p>
            <a:r>
              <a:rPr lang="en-US" dirty="0"/>
              <a:t>Bias Example</a:t>
            </a:r>
            <a:r>
              <a:rPr lang="en-US" baseline="0" dirty="0"/>
              <a:t> 2</a:t>
            </a:r>
            <a:r>
              <a:rPr lang="en-US" dirty="0"/>
              <a:t>: Differential </a:t>
            </a:r>
            <a:r>
              <a:rPr lang="en-US" dirty="0" err="1"/>
              <a:t>exoprotease</a:t>
            </a:r>
            <a:r>
              <a:rPr lang="en-US" dirty="0"/>
              <a:t> activities confer tumor-specific serum </a:t>
            </a:r>
            <a:r>
              <a:rPr lang="en-US" dirty="0" err="1"/>
              <a:t>peptidome</a:t>
            </a:r>
            <a:r>
              <a:rPr lang="en-US" dirty="0"/>
              <a:t> patterns </a:t>
            </a:r>
          </a:p>
        </p:txBody>
      </p:sp>
      <p:sp>
        <p:nvSpPr>
          <p:cNvPr id="6" name="TextBox 5"/>
          <p:cNvSpPr txBox="1"/>
          <p:nvPr/>
        </p:nvSpPr>
        <p:spPr>
          <a:xfrm>
            <a:off x="2209800" y="3169444"/>
            <a:ext cx="3356688" cy="335756"/>
          </a:xfrm>
          <a:prstGeom prst="rect">
            <a:avLst/>
          </a:prstGeom>
          <a:noFill/>
        </p:spPr>
        <p:txBody>
          <a:bodyPr wrap="none" rtlCol="0">
            <a:spAutoFit/>
          </a:bodyPr>
          <a:lstStyle/>
          <a:p>
            <a:r>
              <a:rPr lang="en-US" dirty="0"/>
              <a:t>mean age = 67, Gender = 100% M</a:t>
            </a:r>
          </a:p>
        </p:txBody>
      </p:sp>
      <p:sp>
        <p:nvSpPr>
          <p:cNvPr id="8" name="TextBox 7"/>
          <p:cNvSpPr txBox="1"/>
          <p:nvPr/>
        </p:nvSpPr>
        <p:spPr>
          <a:xfrm>
            <a:off x="2209800" y="3821668"/>
            <a:ext cx="3239669" cy="369332"/>
          </a:xfrm>
          <a:prstGeom prst="rect">
            <a:avLst/>
          </a:prstGeom>
          <a:noFill/>
        </p:spPr>
        <p:txBody>
          <a:bodyPr wrap="none" rtlCol="0">
            <a:spAutoFit/>
          </a:bodyPr>
          <a:lstStyle/>
          <a:p>
            <a:r>
              <a:rPr lang="en-US" dirty="0"/>
              <a:t>mean age = 35, Gender = 42% M</a:t>
            </a:r>
          </a:p>
        </p:txBody>
      </p:sp>
    </p:spTree>
    <p:extLst>
      <p:ext uri="{BB962C8B-B14F-4D97-AF65-F5344CB8AC3E}">
        <p14:creationId xmlns:p14="http://schemas.microsoft.com/office/powerpoint/2010/main" val="150779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b="0" dirty="0"/>
              <a:t>Sample Tissue Block Descriptions</a:t>
            </a:r>
          </a:p>
        </p:txBody>
      </p:sp>
      <p:sp>
        <p:nvSpPr>
          <p:cNvPr id="4" name="Slide Number Placeholder 3"/>
          <p:cNvSpPr>
            <a:spLocks noGrp="1"/>
          </p:cNvSpPr>
          <p:nvPr>
            <p:ph type="sldNum" sz="quarter" idx="4"/>
          </p:nvPr>
        </p:nvSpPr>
        <p:spPr/>
        <p:txBody>
          <a:bodyPr/>
          <a:lstStyle/>
          <a:p>
            <a:fld id="{068A13EE-B1C7-7041-974E-A5C3361A8644}" type="slidenum">
              <a:rPr lang="en-US" smtClean="0"/>
              <a:pPr/>
              <a:t>9</a:t>
            </a:fld>
            <a:endParaRPr lang="en-US" dirty="0"/>
          </a:p>
        </p:txBody>
      </p:sp>
      <p:sp>
        <p:nvSpPr>
          <p:cNvPr id="5" name="Title 4"/>
          <p:cNvSpPr>
            <a:spLocks noGrp="1"/>
          </p:cNvSpPr>
          <p:nvPr>
            <p:ph type="title"/>
          </p:nvPr>
        </p:nvSpPr>
        <p:spPr/>
        <p:txBody>
          <a:bodyPr/>
          <a:lstStyle/>
          <a:p>
            <a:r>
              <a:rPr lang="en-US" dirty="0"/>
              <a:t>Bias Example 3: GHI Colon Polyps Experiment</a:t>
            </a:r>
          </a:p>
        </p:txBody>
      </p:sp>
      <p:graphicFrame>
        <p:nvGraphicFramePr>
          <p:cNvPr id="7" name="Table 6"/>
          <p:cNvGraphicFramePr>
            <a:graphicFrameLocks noGrp="1"/>
          </p:cNvGraphicFramePr>
          <p:nvPr>
            <p:extLst>
              <p:ext uri="{D42A27DB-BD31-4B8C-83A1-F6EECF244321}">
                <p14:modId xmlns:p14="http://schemas.microsoft.com/office/powerpoint/2010/main" val="3312874441"/>
              </p:ext>
            </p:extLst>
          </p:nvPr>
        </p:nvGraphicFramePr>
        <p:xfrm>
          <a:off x="2012824" y="2438400"/>
          <a:ext cx="3185922" cy="147828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204722">
                  <a:extLst>
                    <a:ext uri="{9D8B030D-6E8A-4147-A177-3AD203B41FA5}">
                      <a16:colId xmlns:a16="http://schemas.microsoft.com/office/drawing/2014/main" val="20002"/>
                    </a:ext>
                  </a:extLst>
                </a:gridCol>
              </a:tblGrid>
              <a:tr h="213360">
                <a:tc gridSpan="3">
                  <a:txBody>
                    <a:bodyPr/>
                    <a:lstStyle/>
                    <a:p>
                      <a:pPr algn="ctr"/>
                      <a:r>
                        <a:rPr lang="en-US" dirty="0"/>
                        <a:t>Sample</a:t>
                      </a:r>
                      <a:r>
                        <a:rPr lang="en-US" baseline="0" dirty="0"/>
                        <a:t> set 1</a:t>
                      </a:r>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0000"/>
                  </a:ext>
                </a:extLst>
              </a:tr>
              <a:tr h="370840">
                <a:tc>
                  <a:txBody>
                    <a:bodyPr/>
                    <a:lstStyle/>
                    <a:p>
                      <a:pPr algn="ctr"/>
                      <a:r>
                        <a:rPr lang="en-US" dirty="0"/>
                        <a:t>Year</a:t>
                      </a:r>
                    </a:p>
                  </a:txBody>
                  <a:tcPr/>
                </a:tc>
                <a:tc>
                  <a:txBody>
                    <a:bodyPr/>
                    <a:lstStyle/>
                    <a:p>
                      <a:pPr algn="ctr"/>
                      <a:r>
                        <a:rPr lang="en-US" dirty="0"/>
                        <a:t>Benign</a:t>
                      </a:r>
                    </a:p>
                  </a:txBody>
                  <a:tcPr/>
                </a:tc>
                <a:tc>
                  <a:txBody>
                    <a:bodyPr/>
                    <a:lstStyle/>
                    <a:p>
                      <a:pPr algn="ctr"/>
                      <a:r>
                        <a:rPr lang="en-US" dirty="0"/>
                        <a:t>Cancerous</a:t>
                      </a:r>
                    </a:p>
                  </a:txBody>
                  <a:tcPr/>
                </a:tc>
                <a:extLst>
                  <a:ext uri="{0D108BD9-81ED-4DB2-BD59-A6C34878D82A}">
                    <a16:rowId xmlns:a16="http://schemas.microsoft.com/office/drawing/2014/main" val="10001"/>
                  </a:ext>
                </a:extLst>
              </a:tr>
              <a:tr h="370840">
                <a:tc>
                  <a:txBody>
                    <a:bodyPr/>
                    <a:lstStyle/>
                    <a:p>
                      <a:pPr algn="ctr"/>
                      <a:r>
                        <a:rPr lang="en-US" dirty="0"/>
                        <a:t>2008</a:t>
                      </a:r>
                    </a:p>
                  </a:txBody>
                  <a:tcPr/>
                </a:tc>
                <a:tc>
                  <a:txBody>
                    <a:bodyPr/>
                    <a:lstStyle/>
                    <a:p>
                      <a:pPr algn="ctr"/>
                      <a:r>
                        <a:rPr lang="en-US" dirty="0"/>
                        <a:t>60</a:t>
                      </a:r>
                    </a:p>
                  </a:txBody>
                  <a:tcPr/>
                </a:tc>
                <a:tc>
                  <a:txBody>
                    <a:bodyPr/>
                    <a:lstStyle/>
                    <a:p>
                      <a:pPr algn="ctr"/>
                      <a:r>
                        <a:rPr lang="en-US" dirty="0"/>
                        <a:t>8</a:t>
                      </a:r>
                    </a:p>
                  </a:txBody>
                  <a:tcPr/>
                </a:tc>
                <a:extLst>
                  <a:ext uri="{0D108BD9-81ED-4DB2-BD59-A6C34878D82A}">
                    <a16:rowId xmlns:a16="http://schemas.microsoft.com/office/drawing/2014/main" val="10002"/>
                  </a:ext>
                </a:extLst>
              </a:tr>
              <a:tr h="370840">
                <a:tc>
                  <a:txBody>
                    <a:bodyPr/>
                    <a:lstStyle/>
                    <a:p>
                      <a:pPr algn="ctr"/>
                      <a:r>
                        <a:rPr lang="en-US" dirty="0"/>
                        <a:t>2007</a:t>
                      </a:r>
                    </a:p>
                  </a:txBody>
                  <a:tcPr/>
                </a:tc>
                <a:tc>
                  <a:txBody>
                    <a:bodyPr/>
                    <a:lstStyle/>
                    <a:p>
                      <a:pPr algn="ctr"/>
                      <a:r>
                        <a:rPr lang="en-US" dirty="0"/>
                        <a:t>1</a:t>
                      </a:r>
                    </a:p>
                  </a:txBody>
                  <a:tcPr/>
                </a:tc>
                <a:tc>
                  <a:txBody>
                    <a:bodyPr/>
                    <a:lstStyle/>
                    <a:p>
                      <a:pPr algn="ctr"/>
                      <a:r>
                        <a:rPr lang="en-US" dirty="0"/>
                        <a:t>48</a:t>
                      </a: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914400" y="4953000"/>
            <a:ext cx="7216206" cy="923330"/>
          </a:xfrm>
          <a:prstGeom prst="rect">
            <a:avLst/>
          </a:prstGeom>
          <a:noFill/>
        </p:spPr>
        <p:txBody>
          <a:bodyPr wrap="none" rtlCol="0">
            <a:spAutoFit/>
          </a:bodyPr>
          <a:lstStyle/>
          <a:p>
            <a:r>
              <a:rPr lang="en-US" dirty="0">
                <a:solidFill>
                  <a:schemeClr val="tx2"/>
                </a:solidFill>
              </a:rPr>
              <a:t>In studies based on archival specimens that we obtain from tissue banks, </a:t>
            </a:r>
          </a:p>
          <a:p>
            <a:r>
              <a:rPr lang="en-US" dirty="0">
                <a:solidFill>
                  <a:schemeClr val="tx2"/>
                </a:solidFill>
              </a:rPr>
              <a:t>or hospitals</a:t>
            </a:r>
            <a:r>
              <a:rPr lang="en-US" b="1" dirty="0">
                <a:solidFill>
                  <a:schemeClr val="tx2"/>
                </a:solidFill>
              </a:rPr>
              <a:t>, how can we exercise more control over the sample selection </a:t>
            </a:r>
          </a:p>
          <a:p>
            <a:r>
              <a:rPr lang="en-US" b="1" dirty="0">
                <a:solidFill>
                  <a:schemeClr val="tx2"/>
                </a:solidFill>
              </a:rPr>
              <a:t>process?</a:t>
            </a:r>
          </a:p>
        </p:txBody>
      </p:sp>
    </p:spTree>
    <p:extLst>
      <p:ext uri="{BB962C8B-B14F-4D97-AF65-F5344CB8AC3E}">
        <p14:creationId xmlns:p14="http://schemas.microsoft.com/office/powerpoint/2010/main" val="1651249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1295400"/>
            <a:ext cx="8458200" cy="4800600"/>
          </a:xfrm>
        </p:spPr>
        <p:txBody>
          <a:bodyPr>
            <a:normAutofit/>
          </a:bodyPr>
          <a:lstStyle/>
          <a:p>
            <a:r>
              <a:rPr lang="en-US" dirty="0"/>
              <a:t>Several hundred samples from breast tumors were hybridized to early versions of </a:t>
            </a:r>
            <a:r>
              <a:rPr lang="en-US" dirty="0" err="1"/>
              <a:t>Affymetrix</a:t>
            </a:r>
            <a:r>
              <a:rPr lang="en-US" dirty="0"/>
              <a:t> </a:t>
            </a:r>
            <a:r>
              <a:rPr lang="en-US" dirty="0" err="1"/>
              <a:t>Genechips</a:t>
            </a:r>
            <a:r>
              <a:rPr lang="en-US" dirty="0"/>
              <a:t>.</a:t>
            </a:r>
          </a:p>
          <a:p>
            <a:r>
              <a:rPr lang="en-US" dirty="0"/>
              <a:t>Unsupervised clustering on the gene expression profiles led to 2 very distinct clusters </a:t>
            </a:r>
            <a:r>
              <a:rPr lang="en-US" dirty="0">
                <a:sym typeface="Wingdings" pitchFamily="2" charset="2"/>
              </a:rPr>
              <a:t></a:t>
            </a:r>
            <a:endParaRPr lang="en-US" dirty="0"/>
          </a:p>
          <a:p>
            <a:r>
              <a:rPr lang="en-US" dirty="0"/>
              <a:t>Gene signatures driving the clusters were not interpretable </a:t>
            </a:r>
            <a:r>
              <a:rPr lang="en-US" dirty="0">
                <a:sym typeface="Wingdings" pitchFamily="2" charset="2"/>
              </a:rPr>
              <a:t></a:t>
            </a:r>
            <a:endParaRPr lang="en-US" dirty="0"/>
          </a:p>
          <a:p>
            <a:r>
              <a:rPr lang="en-US" dirty="0"/>
              <a:t>Possible explanation:</a:t>
            </a:r>
          </a:p>
          <a:p>
            <a:pPr lvl="1"/>
            <a:r>
              <a:rPr lang="en-US" dirty="0"/>
              <a:t>For 2 weeks prior to the end of the year, production was running 7 days of week in order to meet bonus goals. </a:t>
            </a:r>
          </a:p>
          <a:p>
            <a:pPr lvl="1"/>
            <a:r>
              <a:rPr lang="en-US" dirty="0"/>
              <a:t>The two groups of samples corresponding to the </a:t>
            </a:r>
            <a:r>
              <a:rPr lang="en-US" b="1" dirty="0"/>
              <a:t>two clusters </a:t>
            </a:r>
            <a:r>
              <a:rPr lang="en-US" dirty="0"/>
              <a:t>were processed on </a:t>
            </a:r>
            <a:r>
              <a:rPr lang="en-US" b="1" dirty="0"/>
              <a:t>two consecutive week-ends</a:t>
            </a:r>
            <a:r>
              <a:rPr lang="en-US" dirty="0"/>
              <a:t>.</a:t>
            </a:r>
          </a:p>
        </p:txBody>
      </p:sp>
      <p:sp>
        <p:nvSpPr>
          <p:cNvPr id="4" name="Slide Number Placeholder 3"/>
          <p:cNvSpPr>
            <a:spLocks noGrp="1"/>
          </p:cNvSpPr>
          <p:nvPr>
            <p:ph type="sldNum" sz="quarter" idx="4"/>
          </p:nvPr>
        </p:nvSpPr>
        <p:spPr/>
        <p:txBody>
          <a:bodyPr/>
          <a:lstStyle/>
          <a:p>
            <a:fld id="{068A13EE-B1C7-7041-974E-A5C3361A8644}" type="slidenum">
              <a:rPr lang="en-US" smtClean="0"/>
              <a:pPr/>
              <a:t>10</a:t>
            </a:fld>
            <a:endParaRPr lang="en-US" dirty="0"/>
          </a:p>
        </p:txBody>
      </p:sp>
      <p:sp>
        <p:nvSpPr>
          <p:cNvPr id="5" name="Title 4"/>
          <p:cNvSpPr>
            <a:spLocks noGrp="1"/>
          </p:cNvSpPr>
          <p:nvPr>
            <p:ph type="title"/>
          </p:nvPr>
        </p:nvSpPr>
        <p:spPr/>
        <p:txBody>
          <a:bodyPr/>
          <a:lstStyle/>
          <a:p>
            <a:r>
              <a:rPr lang="en-US" dirty="0"/>
              <a:t>Bias Example 4: </a:t>
            </a:r>
            <a:r>
              <a:rPr lang="en-US" dirty="0" err="1"/>
              <a:t>Affymetrix</a:t>
            </a:r>
            <a:r>
              <a:rPr lang="en-US" dirty="0"/>
              <a:t> </a:t>
            </a:r>
            <a:r>
              <a:rPr lang="en-US" dirty="0" err="1"/>
              <a:t>Genechip</a:t>
            </a:r>
            <a:r>
              <a:rPr lang="en-US" dirty="0"/>
              <a:t> profiles find tumor subtypes</a:t>
            </a:r>
          </a:p>
        </p:txBody>
      </p:sp>
    </p:spTree>
    <p:extLst>
      <p:ext uri="{BB962C8B-B14F-4D97-AF65-F5344CB8AC3E}">
        <p14:creationId xmlns:p14="http://schemas.microsoft.com/office/powerpoint/2010/main" val="250584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Batch effects, a significant threat to the validity of </a:t>
            </a:r>
            <a:r>
              <a:rPr lang="en-US" dirty="0" err="1"/>
              <a:t>Omics</a:t>
            </a:r>
            <a:r>
              <a:rPr lang="en-US" dirty="0"/>
              <a:t> results</a:t>
            </a:r>
          </a:p>
        </p:txBody>
      </p:sp>
      <p:sp>
        <p:nvSpPr>
          <p:cNvPr id="3" name="Content Placeholder 2"/>
          <p:cNvSpPr>
            <a:spLocks noGrp="1"/>
          </p:cNvSpPr>
          <p:nvPr>
            <p:ph idx="1"/>
          </p:nvPr>
        </p:nvSpPr>
        <p:spPr/>
        <p:txBody>
          <a:bodyPr>
            <a:normAutofit lnSpcReduction="10000"/>
          </a:bodyPr>
          <a:lstStyle/>
          <a:p>
            <a:r>
              <a:rPr lang="en-US" dirty="0"/>
              <a:t>Batch effects on microarray data have been well documented.</a:t>
            </a:r>
          </a:p>
          <a:p>
            <a:r>
              <a:rPr lang="en-US" dirty="0"/>
              <a:t>Batch effects in </a:t>
            </a:r>
            <a:r>
              <a:rPr lang="en-US" dirty="0" err="1"/>
              <a:t>RNASeq</a:t>
            </a:r>
            <a:r>
              <a:rPr lang="en-US" dirty="0"/>
              <a:t> data are also starting to be addressed</a:t>
            </a:r>
          </a:p>
          <a:p>
            <a:pPr lvl="1"/>
            <a:r>
              <a:rPr lang="en-US" dirty="0"/>
              <a:t>These can be mitigated by proper sample processing designs.</a:t>
            </a:r>
          </a:p>
          <a:p>
            <a:r>
              <a:rPr lang="en-US" dirty="0"/>
              <a:t>Batch effects may be an even bigger threat to the validity of results in mutation profiling</a:t>
            </a:r>
          </a:p>
          <a:p>
            <a:pPr lvl="1"/>
            <a:r>
              <a:rPr lang="en-US" dirty="0"/>
              <a:t>Patterns of sequencing errors found in one study (</a:t>
            </a:r>
            <a:r>
              <a:rPr lang="en-US" dirty="0">
                <a:hlinkClick r:id="rId3" action="ppaction://hlinkfile"/>
              </a:rPr>
              <a:t>Nakamura 2011</a:t>
            </a:r>
            <a:r>
              <a:rPr lang="en-US" dirty="0"/>
              <a:t>) are not observed in the next study (</a:t>
            </a:r>
            <a:r>
              <a:rPr lang="en-US" dirty="0" err="1">
                <a:hlinkClick r:id="rId4" action="ppaction://hlinkfile"/>
              </a:rPr>
              <a:t>Minoche</a:t>
            </a:r>
            <a:r>
              <a:rPr lang="en-US" dirty="0">
                <a:hlinkClick r:id="rId4" action="ppaction://hlinkfile"/>
              </a:rPr>
              <a:t> 2011</a:t>
            </a:r>
            <a:r>
              <a:rPr lang="en-US" dirty="0"/>
              <a:t>).</a:t>
            </a:r>
          </a:p>
          <a:p>
            <a:pPr lvl="2"/>
            <a:r>
              <a:rPr lang="en-US" dirty="0"/>
              <a:t>Suggests including several independent sequencing data sets in analysis.</a:t>
            </a:r>
          </a:p>
          <a:p>
            <a:pPr lvl="1"/>
            <a:r>
              <a:rPr lang="en-US" dirty="0"/>
              <a:t>The plethora of methods is astounding: </a:t>
            </a:r>
            <a:r>
              <a:rPr lang="en-US" dirty="0">
                <a:hlinkClick r:id="rId5"/>
              </a:rPr>
              <a:t>GATK</a:t>
            </a:r>
            <a:r>
              <a:rPr lang="en-US" dirty="0"/>
              <a:t>, </a:t>
            </a:r>
            <a:r>
              <a:rPr lang="en-US" dirty="0" err="1">
                <a:hlinkClick r:id="rId6"/>
              </a:rPr>
              <a:t>Samtools</a:t>
            </a:r>
            <a:r>
              <a:rPr lang="en-US" dirty="0"/>
              <a:t>, </a:t>
            </a:r>
            <a:r>
              <a:rPr lang="en-US" dirty="0" err="1">
                <a:hlinkClick r:id="rId7"/>
              </a:rPr>
              <a:t>VarScan</a:t>
            </a:r>
            <a:r>
              <a:rPr lang="en-US" dirty="0"/>
              <a:t>, </a:t>
            </a:r>
            <a:r>
              <a:rPr lang="en-US" dirty="0" err="1">
                <a:hlinkClick r:id="rId8" action="ppaction://hlinkfile"/>
              </a:rPr>
              <a:t>SNVMix</a:t>
            </a:r>
            <a:r>
              <a:rPr lang="en-US" dirty="0"/>
              <a:t>, </a:t>
            </a:r>
            <a:r>
              <a:rPr lang="en-US" dirty="0">
                <a:hlinkClick r:id="rId9" action="ppaction://hlinkfile"/>
              </a:rPr>
              <a:t>SERVIC4E</a:t>
            </a:r>
            <a:r>
              <a:rPr lang="en-US" dirty="0"/>
              <a:t>, </a:t>
            </a:r>
            <a:r>
              <a:rPr lang="en-US" dirty="0" err="1">
                <a:hlinkClick r:id="rId10" action="ppaction://hlinkfile"/>
              </a:rPr>
              <a:t>CrossSampleErrEst</a:t>
            </a:r>
            <a:r>
              <a:rPr lang="en-US" dirty="0"/>
              <a:t>, </a:t>
            </a:r>
            <a:r>
              <a:rPr lang="en-US" dirty="0" err="1"/>
              <a:t>SNVer</a:t>
            </a:r>
            <a:r>
              <a:rPr lang="en-US" dirty="0"/>
              <a:t>, CRISP, Atlas-SNP2, and </a:t>
            </a:r>
            <a:r>
              <a:rPr lang="en-US" b="1" dirty="0"/>
              <a:t>many more</a:t>
            </a:r>
            <a:endParaRPr lang="en-US" dirty="0"/>
          </a:p>
          <a:p>
            <a:pPr lvl="1">
              <a:buFont typeface="Wingdings" pitchFamily="2" charset="2"/>
              <a:buChar char="Ø"/>
            </a:pPr>
            <a:r>
              <a:rPr lang="en-US" dirty="0"/>
              <a:t>The key to arriving at valid – generalizable – results will be </a:t>
            </a:r>
            <a:r>
              <a:rPr lang="en-US" b="1" dirty="0"/>
              <a:t>sound sample selection  and processing </a:t>
            </a:r>
            <a:r>
              <a:rPr lang="en-US" dirty="0"/>
              <a:t>and </a:t>
            </a:r>
            <a:r>
              <a:rPr lang="en-US" b="1" dirty="0"/>
              <a:t>careful data analysis</a:t>
            </a:r>
            <a:r>
              <a:rPr lang="en-US" dirty="0"/>
              <a:t> to guard against </a:t>
            </a:r>
            <a:r>
              <a:rPr lang="en-US" dirty="0" err="1"/>
              <a:t>overfitting</a:t>
            </a:r>
            <a:r>
              <a:rPr lang="en-US" dirty="0"/>
              <a:t>.</a:t>
            </a:r>
          </a:p>
        </p:txBody>
      </p:sp>
      <p:sp>
        <p:nvSpPr>
          <p:cNvPr id="4" name="Slide Number Placeholder 3"/>
          <p:cNvSpPr>
            <a:spLocks noGrp="1"/>
          </p:cNvSpPr>
          <p:nvPr>
            <p:ph type="sldNum" sz="quarter" idx="4"/>
          </p:nvPr>
        </p:nvSpPr>
        <p:spPr/>
        <p:txBody>
          <a:bodyPr/>
          <a:lstStyle/>
          <a:p>
            <a:fld id="{068A13EE-B1C7-7041-974E-A5C3361A8644}" type="slidenum">
              <a:rPr lang="en-US" smtClean="0"/>
              <a:pPr/>
              <a:t>11</a:t>
            </a:fld>
            <a:endParaRPr lang="en-US" dirty="0"/>
          </a:p>
        </p:txBody>
      </p:sp>
    </p:spTree>
    <p:extLst>
      <p:ext uri="{BB962C8B-B14F-4D97-AF65-F5344CB8AC3E}">
        <p14:creationId xmlns:p14="http://schemas.microsoft.com/office/powerpoint/2010/main" val="372756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1143000"/>
            <a:ext cx="8229600" cy="4953000"/>
          </a:xfrm>
        </p:spPr>
        <p:txBody>
          <a:bodyPr>
            <a:normAutofit lnSpcReduction="10000"/>
          </a:bodyPr>
          <a:lstStyle/>
          <a:p>
            <a:pPr marL="457200" indent="-457200">
              <a:lnSpc>
                <a:spcPct val="120000"/>
              </a:lnSpc>
              <a:spcBef>
                <a:spcPts val="1200"/>
              </a:spcBef>
              <a:buFont typeface="+mj-lt"/>
              <a:buAutoNum type="arabicPeriod"/>
            </a:pPr>
            <a:r>
              <a:rPr lang="en-US" dirty="0"/>
              <a:t>Data Quality Assessment</a:t>
            </a:r>
          </a:p>
          <a:p>
            <a:pPr marL="635000" lvl="1" indent="-457200">
              <a:lnSpc>
                <a:spcPct val="110000"/>
              </a:lnSpc>
              <a:spcBef>
                <a:spcPts val="0"/>
              </a:spcBef>
            </a:pPr>
            <a:r>
              <a:rPr lang="en-US" b="1" dirty="0">
                <a:hlinkClick r:id="rId3"/>
              </a:rPr>
              <a:t>Crucial</a:t>
            </a:r>
            <a:r>
              <a:rPr lang="en-US" dirty="0">
                <a:hlinkClick r:id="rId3"/>
              </a:rPr>
              <a:t> </a:t>
            </a:r>
            <a:r>
              <a:rPr lang="en-US" dirty="0"/>
              <a:t>first step.</a:t>
            </a:r>
          </a:p>
          <a:p>
            <a:pPr marL="635000" lvl="1" indent="-457200">
              <a:lnSpc>
                <a:spcPct val="110000"/>
              </a:lnSpc>
              <a:spcBef>
                <a:spcPts val="0"/>
              </a:spcBef>
            </a:pPr>
            <a:r>
              <a:rPr lang="en-US" dirty="0"/>
              <a:t>Includes both general and application specific assessments.</a:t>
            </a:r>
          </a:p>
          <a:p>
            <a:pPr marL="635000" lvl="1" indent="-457200">
              <a:lnSpc>
                <a:spcPct val="110000"/>
              </a:lnSpc>
              <a:spcBef>
                <a:spcPts val="0"/>
              </a:spcBef>
            </a:pPr>
            <a:r>
              <a:rPr lang="en-US" dirty="0"/>
              <a:t>A data quality report must be </a:t>
            </a:r>
            <a:r>
              <a:rPr lang="en-US" b="1" dirty="0"/>
              <a:t>produced and examined </a:t>
            </a:r>
            <a:r>
              <a:rPr lang="en-US" dirty="0"/>
              <a:t> before proceeding.</a:t>
            </a:r>
          </a:p>
          <a:p>
            <a:pPr marL="457200" indent="-457200">
              <a:spcBef>
                <a:spcPts val="1200"/>
              </a:spcBef>
              <a:buFont typeface="+mj-lt"/>
              <a:buAutoNum type="arabicPeriod"/>
            </a:pPr>
            <a:r>
              <a:rPr lang="en-US" dirty="0"/>
              <a:t>Computational Model Development</a:t>
            </a:r>
          </a:p>
          <a:p>
            <a:pPr marL="635000" lvl="1" indent="-457200">
              <a:lnSpc>
                <a:spcPct val="100000"/>
              </a:lnSpc>
              <a:spcBef>
                <a:spcPts val="600"/>
              </a:spcBef>
            </a:pPr>
            <a:r>
              <a:rPr lang="en-US" dirty="0" err="1"/>
              <a:t>Overfitting</a:t>
            </a:r>
            <a:r>
              <a:rPr lang="en-US" dirty="0"/>
              <a:t> is a major concern: performance will be great on training set, but poor on other samples.</a:t>
            </a:r>
          </a:p>
          <a:p>
            <a:pPr marL="457200" indent="-457200">
              <a:spcBef>
                <a:spcPts val="1200"/>
              </a:spcBef>
              <a:buFont typeface="+mj-lt"/>
              <a:buAutoNum type="arabicPeriod"/>
            </a:pPr>
            <a:r>
              <a:rPr lang="en-US" dirty="0"/>
              <a:t>Confirmation on an Independent Evaluation Dataset</a:t>
            </a:r>
          </a:p>
          <a:p>
            <a:pPr marL="635000" lvl="1" indent="-457200">
              <a:spcBef>
                <a:spcPts val="600"/>
              </a:spcBef>
            </a:pPr>
            <a:r>
              <a:rPr lang="en-US" dirty="0"/>
              <a:t>A computational model’s ultimate utility is measured by its performance on future samples.</a:t>
            </a:r>
          </a:p>
          <a:p>
            <a:pPr marL="457200" indent="-457200">
              <a:spcBef>
                <a:spcPts val="1200"/>
              </a:spcBef>
              <a:buFont typeface="+mj-lt"/>
              <a:buAutoNum type="arabicPeriod"/>
            </a:pPr>
            <a:r>
              <a:rPr lang="en-US" dirty="0"/>
              <a:t>Documentation of Data and the Fully Specified Computational Procedures should be made available</a:t>
            </a:r>
          </a:p>
          <a:p>
            <a:pPr marL="635000" lvl="1" indent="-457200">
              <a:spcBef>
                <a:spcPts val="600"/>
              </a:spcBef>
            </a:pPr>
            <a:r>
              <a:rPr lang="en-US" dirty="0"/>
              <a:t>These should be stored in a protected area under version control, etc. </a:t>
            </a:r>
          </a:p>
        </p:txBody>
      </p:sp>
      <p:sp>
        <p:nvSpPr>
          <p:cNvPr id="4" name="Slide Number Placeholder 3"/>
          <p:cNvSpPr>
            <a:spLocks noGrp="1"/>
          </p:cNvSpPr>
          <p:nvPr>
            <p:ph type="sldNum" sz="quarter" idx="4"/>
          </p:nvPr>
        </p:nvSpPr>
        <p:spPr/>
        <p:txBody>
          <a:bodyPr/>
          <a:lstStyle/>
          <a:p>
            <a:fld id="{068A13EE-B1C7-7041-974E-A5C3361A8644}" type="slidenum">
              <a:rPr lang="en-US" smtClean="0"/>
              <a:pPr/>
              <a:t>12</a:t>
            </a:fld>
            <a:endParaRPr lang="en-US" dirty="0"/>
          </a:p>
        </p:txBody>
      </p:sp>
      <p:sp>
        <p:nvSpPr>
          <p:cNvPr id="5" name="Title 4"/>
          <p:cNvSpPr>
            <a:spLocks noGrp="1"/>
          </p:cNvSpPr>
          <p:nvPr>
            <p:ph type="title"/>
          </p:nvPr>
        </p:nvSpPr>
        <p:spPr>
          <a:xfrm>
            <a:off x="457200" y="68938"/>
            <a:ext cx="8083993" cy="1074062"/>
          </a:xfrm>
        </p:spPr>
        <p:txBody>
          <a:bodyPr>
            <a:normAutofit/>
          </a:bodyPr>
          <a:lstStyle/>
          <a:p>
            <a:r>
              <a:rPr lang="en-US" dirty="0"/>
              <a:t>ETO: Steps to Ensure the Validity of Results</a:t>
            </a:r>
          </a:p>
        </p:txBody>
      </p:sp>
    </p:spTree>
    <p:extLst>
      <p:ext uri="{BB962C8B-B14F-4D97-AF65-F5344CB8AC3E}">
        <p14:creationId xmlns:p14="http://schemas.microsoft.com/office/powerpoint/2010/main" val="229028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Computational Model Development: Training - Evaluation Set Separation</a:t>
            </a:r>
          </a:p>
        </p:txBody>
      </p:sp>
      <p:sp>
        <p:nvSpPr>
          <p:cNvPr id="3" name="Content Placeholder 2"/>
          <p:cNvSpPr>
            <a:spLocks noGrp="1"/>
          </p:cNvSpPr>
          <p:nvPr>
            <p:ph idx="1"/>
          </p:nvPr>
        </p:nvSpPr>
        <p:spPr/>
        <p:txBody>
          <a:bodyPr>
            <a:normAutofit fontScale="92500" lnSpcReduction="10000"/>
          </a:bodyPr>
          <a:lstStyle/>
          <a:p>
            <a:r>
              <a:rPr lang="en-US" dirty="0"/>
              <a:t>Evaluation set should be </a:t>
            </a:r>
            <a:r>
              <a:rPr lang="en-US" b="1" dirty="0"/>
              <a:t>representative of future samples</a:t>
            </a:r>
            <a:r>
              <a:rPr lang="en-US" dirty="0"/>
              <a:t> (tissue type, stage, etc.), and ideally </a:t>
            </a:r>
            <a:r>
              <a:rPr lang="en-US" b="1" dirty="0"/>
              <a:t>fully independent </a:t>
            </a:r>
            <a:r>
              <a:rPr lang="en-US" dirty="0"/>
              <a:t>of the Training set – processed separately from beginning to end at a different point in time, for example.</a:t>
            </a:r>
          </a:p>
          <a:p>
            <a:r>
              <a:rPr lang="en-US" dirty="0"/>
              <a:t>When this is not possible, the analysis data set should be split into Training and Validation subsets at random.</a:t>
            </a:r>
          </a:p>
          <a:p>
            <a:pPr lvl="1"/>
            <a:r>
              <a:rPr lang="en-US" dirty="0"/>
              <a:t>Some mutation analysis method developers split the genomic region into Training and Validation </a:t>
            </a:r>
            <a:r>
              <a:rPr lang="en-US" dirty="0" err="1"/>
              <a:t>subregions</a:t>
            </a:r>
            <a:r>
              <a:rPr lang="en-US" dirty="0"/>
              <a:t> – this is the least desirable split.</a:t>
            </a:r>
          </a:p>
          <a:p>
            <a:r>
              <a:rPr lang="en-US" dirty="0"/>
              <a:t>To avoid </a:t>
            </a:r>
            <a:r>
              <a:rPr lang="en-US" dirty="0" err="1"/>
              <a:t>overfitting</a:t>
            </a:r>
            <a:r>
              <a:rPr lang="en-US" dirty="0"/>
              <a:t>, the Training set itself can be randomly split in a Fit set and a Test set, or cross-validation can be used to arrive at a final computational model</a:t>
            </a:r>
          </a:p>
          <a:p>
            <a:pPr lvl="1"/>
            <a:r>
              <a:rPr lang="en-US" dirty="0"/>
              <a:t>Test set or cross-validated performance assessments are usually optimistic as the fit and test sets share similarities that may not be shared by future samples processed later in time, potentially coming from different populations</a:t>
            </a:r>
          </a:p>
          <a:p>
            <a:pPr lvl="1"/>
            <a:r>
              <a:rPr lang="en-US" dirty="0"/>
              <a:t>Cross-validation estimates can also suffer from bias and high-variance (Elements of Statistical Learning)</a:t>
            </a:r>
          </a:p>
        </p:txBody>
      </p:sp>
      <p:sp>
        <p:nvSpPr>
          <p:cNvPr id="4" name="Slide Number Placeholder 3"/>
          <p:cNvSpPr>
            <a:spLocks noGrp="1"/>
          </p:cNvSpPr>
          <p:nvPr>
            <p:ph type="sldNum" sz="quarter" idx="4"/>
          </p:nvPr>
        </p:nvSpPr>
        <p:spPr/>
        <p:txBody>
          <a:bodyPr/>
          <a:lstStyle/>
          <a:p>
            <a:fld id="{068A13EE-B1C7-7041-974E-A5C3361A8644}" type="slidenum">
              <a:rPr lang="en-US" smtClean="0"/>
              <a:pPr/>
              <a:t>13</a:t>
            </a:fld>
            <a:endParaRPr lang="en-US" dirty="0"/>
          </a:p>
        </p:txBody>
      </p:sp>
    </p:spTree>
    <p:extLst>
      <p:ext uri="{BB962C8B-B14F-4D97-AF65-F5344CB8AC3E}">
        <p14:creationId xmlns:p14="http://schemas.microsoft.com/office/powerpoint/2010/main" val="213644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Omics</a:t>
            </a:r>
            <a:r>
              <a:rPr lang="en-US" dirty="0"/>
              <a:t>-based Model Development Process –</a:t>
            </a:r>
            <a:br>
              <a:rPr lang="en-US" dirty="0"/>
            </a:br>
            <a:r>
              <a:rPr lang="en-US" dirty="0"/>
              <a:t>Discovery Phase</a:t>
            </a:r>
          </a:p>
        </p:txBody>
      </p:sp>
      <p:sp>
        <p:nvSpPr>
          <p:cNvPr id="3" name="Slide Number Placeholder 2"/>
          <p:cNvSpPr>
            <a:spLocks noGrp="1"/>
          </p:cNvSpPr>
          <p:nvPr>
            <p:ph type="sldNum" sz="quarter" idx="10"/>
          </p:nvPr>
        </p:nvSpPr>
        <p:spPr/>
        <p:txBody>
          <a:bodyPr/>
          <a:lstStyle/>
          <a:p>
            <a:fld id="{068A13EE-B1C7-7041-974E-A5C3361A8644}" type="slidenum">
              <a:rPr lang="en-US" smtClean="0"/>
              <a:pPr/>
              <a:t>14</a:t>
            </a:fld>
            <a:endParaRPr lang="en-US" dirty="0"/>
          </a:p>
        </p:txBody>
      </p:sp>
      <p:sp>
        <p:nvSpPr>
          <p:cNvPr id="5" name="TextBox 4"/>
          <p:cNvSpPr txBox="1"/>
          <p:nvPr/>
        </p:nvSpPr>
        <p:spPr>
          <a:xfrm>
            <a:off x="3034341" y="1022062"/>
            <a:ext cx="2585323" cy="584775"/>
          </a:xfrm>
          <a:prstGeom prst="rect">
            <a:avLst/>
          </a:prstGeom>
          <a:noFill/>
          <a:ln w="28575">
            <a:solidFill>
              <a:schemeClr val="accent2">
                <a:lumMod val="75000"/>
                <a:lumOff val="25000"/>
              </a:schemeClr>
            </a:solidFill>
          </a:ln>
        </p:spPr>
        <p:txBody>
          <a:bodyPr wrap="none" rtlCol="0" anchor="ctr">
            <a:spAutoFit/>
          </a:bodyPr>
          <a:lstStyle/>
          <a:p>
            <a:pPr algn="ctr"/>
            <a:r>
              <a:rPr lang="en-US" sz="1600" dirty="0"/>
              <a:t>Candidate </a:t>
            </a:r>
            <a:r>
              <a:rPr lang="en-US" sz="1600" b="1" dirty="0"/>
              <a:t>Model Developed</a:t>
            </a:r>
          </a:p>
          <a:p>
            <a:pPr algn="ctr"/>
            <a:r>
              <a:rPr lang="en-US" sz="1600" dirty="0"/>
              <a:t>On Training Data</a:t>
            </a:r>
          </a:p>
        </p:txBody>
      </p:sp>
      <p:sp>
        <p:nvSpPr>
          <p:cNvPr id="6" name="TextBox 5"/>
          <p:cNvSpPr txBox="1"/>
          <p:nvPr/>
        </p:nvSpPr>
        <p:spPr>
          <a:xfrm>
            <a:off x="2743200" y="3740765"/>
            <a:ext cx="3124200" cy="2308324"/>
          </a:xfrm>
          <a:prstGeom prst="rect">
            <a:avLst/>
          </a:prstGeom>
          <a:noFill/>
          <a:ln w="28575">
            <a:solidFill>
              <a:schemeClr val="accent2">
                <a:lumMod val="75000"/>
                <a:lumOff val="25000"/>
              </a:schemeClr>
            </a:solidFill>
          </a:ln>
        </p:spPr>
        <p:txBody>
          <a:bodyPr wrap="square" rtlCol="0" anchor="ctr">
            <a:spAutoFit/>
          </a:bodyPr>
          <a:lstStyle/>
          <a:p>
            <a:pPr algn="ctr"/>
            <a:r>
              <a:rPr lang="en-US" sz="1600" dirty="0"/>
              <a:t>Evaluation of Candidate</a:t>
            </a:r>
          </a:p>
          <a:p>
            <a:pPr algn="ctr"/>
            <a:r>
              <a:rPr lang="en-US" sz="1600" dirty="0" err="1"/>
              <a:t>Omics</a:t>
            </a:r>
            <a:r>
              <a:rPr lang="en-US" sz="1600" dirty="0"/>
              <a:t>-Based Test using:</a:t>
            </a:r>
          </a:p>
          <a:p>
            <a:pPr algn="ctr"/>
            <a:endParaRPr lang="en-US" sz="1600" dirty="0"/>
          </a:p>
          <a:p>
            <a:pPr marL="342900" indent="-342900" algn="ctr">
              <a:buAutoNum type="arabicPeriod"/>
            </a:pPr>
            <a:r>
              <a:rPr lang="en-US" sz="1600" b="1" dirty="0">
                <a:solidFill>
                  <a:srgbClr val="FFC000"/>
                </a:solidFill>
              </a:rPr>
              <a:t>Data from an Independent Sample set</a:t>
            </a:r>
            <a:r>
              <a:rPr lang="en-US" sz="1600" dirty="0"/>
              <a:t> if available (preferred); -or-</a:t>
            </a:r>
          </a:p>
          <a:p>
            <a:pPr algn="ctr"/>
            <a:r>
              <a:rPr lang="en-US" sz="1600" dirty="0"/>
              <a:t>2.  Data from a subset of the Training Set NOT Used during training (less preferred).</a:t>
            </a:r>
          </a:p>
        </p:txBody>
      </p:sp>
      <p:sp>
        <p:nvSpPr>
          <p:cNvPr id="11" name="TextBox 10"/>
          <p:cNvSpPr txBox="1"/>
          <p:nvPr/>
        </p:nvSpPr>
        <p:spPr>
          <a:xfrm>
            <a:off x="2955402" y="2217003"/>
            <a:ext cx="2743200" cy="830997"/>
          </a:xfrm>
          <a:prstGeom prst="rect">
            <a:avLst/>
          </a:prstGeom>
          <a:noFill/>
          <a:ln w="28575">
            <a:solidFill>
              <a:schemeClr val="accent2">
                <a:lumMod val="75000"/>
                <a:lumOff val="25000"/>
              </a:schemeClr>
            </a:solidFill>
          </a:ln>
        </p:spPr>
        <p:txBody>
          <a:bodyPr wrap="square" rtlCol="0" anchor="ctr">
            <a:spAutoFit/>
          </a:bodyPr>
          <a:lstStyle/>
          <a:p>
            <a:pPr algn="ctr"/>
            <a:r>
              <a:rPr lang="en-US" sz="1600" dirty="0"/>
              <a:t>Lock-Down of All</a:t>
            </a:r>
          </a:p>
          <a:p>
            <a:pPr algn="ctr"/>
            <a:r>
              <a:rPr lang="en-US" sz="1600" dirty="0"/>
              <a:t>Analytical  and  Computational</a:t>
            </a:r>
          </a:p>
          <a:p>
            <a:pPr algn="ctr"/>
            <a:r>
              <a:rPr lang="en-US" sz="1600" dirty="0"/>
              <a:t> Procedures</a:t>
            </a:r>
          </a:p>
        </p:txBody>
      </p:sp>
      <p:cxnSp>
        <p:nvCxnSpPr>
          <p:cNvPr id="13" name="Straight Arrow Connector 12"/>
          <p:cNvCxnSpPr/>
          <p:nvPr/>
        </p:nvCxnSpPr>
        <p:spPr>
          <a:xfrm>
            <a:off x="4288897" y="1676400"/>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4267200" y="3205118"/>
            <a:ext cx="0" cy="452482"/>
          </a:xfrm>
          <a:prstGeom prst="straightConnector1">
            <a:avLst/>
          </a:prstGeom>
          <a:ln w="31750">
            <a:solidFill>
              <a:srgbClr val="6DB33F"/>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0" y="1066800"/>
            <a:ext cx="2798458" cy="4801314"/>
          </a:xfrm>
          <a:prstGeom prst="rect">
            <a:avLst/>
          </a:prstGeom>
          <a:noFill/>
        </p:spPr>
        <p:txBody>
          <a:bodyPr wrap="none" rtlCol="0">
            <a:spAutoFit/>
          </a:bodyPr>
          <a:lstStyle/>
          <a:p>
            <a:r>
              <a:rPr lang="en-US" b="1" dirty="0">
                <a:solidFill>
                  <a:schemeClr val="tx2"/>
                </a:solidFill>
              </a:rPr>
              <a:t>Fit Set/Test Set or</a:t>
            </a:r>
          </a:p>
          <a:p>
            <a:r>
              <a:rPr lang="en-US" b="1" dirty="0">
                <a:solidFill>
                  <a:schemeClr val="tx2"/>
                </a:solidFill>
              </a:rPr>
              <a:t>Cross validation done here</a:t>
            </a:r>
          </a:p>
          <a:p>
            <a:pPr marL="285750" indent="-285750">
              <a:buFont typeface="Arial" pitchFamily="34" charset="0"/>
              <a:buChar char="•"/>
            </a:pPr>
            <a:endParaRPr lang="en-US" b="1" dirty="0">
              <a:solidFill>
                <a:schemeClr val="tx2"/>
              </a:solidFill>
            </a:endParaRPr>
          </a:p>
          <a:p>
            <a:endParaRPr lang="en-US" b="1" dirty="0">
              <a:solidFill>
                <a:schemeClr val="tx2"/>
              </a:solidFill>
            </a:endParaRPr>
          </a:p>
          <a:p>
            <a:r>
              <a:rPr lang="en-US" b="1" dirty="0">
                <a:solidFill>
                  <a:schemeClr val="tx2"/>
                </a:solidFill>
              </a:rPr>
              <a:t>Lock-down of  Model and </a:t>
            </a:r>
          </a:p>
          <a:p>
            <a:r>
              <a:rPr lang="en-US" b="1" dirty="0">
                <a:solidFill>
                  <a:schemeClr val="tx2"/>
                </a:solidFill>
              </a:rPr>
              <a:t>Evaluation Procedure</a:t>
            </a:r>
          </a:p>
          <a:p>
            <a:endParaRPr lang="en-US" b="1" dirty="0">
              <a:solidFill>
                <a:schemeClr val="tx2"/>
              </a:solidFill>
            </a:endParaRPr>
          </a:p>
          <a:p>
            <a:endParaRPr lang="en-US" b="1" dirty="0">
              <a:solidFill>
                <a:schemeClr val="tx2"/>
              </a:solidFill>
            </a:endParaRPr>
          </a:p>
          <a:p>
            <a:endParaRPr lang="en-US" b="1" dirty="0">
              <a:solidFill>
                <a:schemeClr val="tx2"/>
              </a:solidFill>
            </a:endParaRPr>
          </a:p>
          <a:p>
            <a:endParaRPr lang="en-US" b="1" dirty="0">
              <a:solidFill>
                <a:schemeClr val="tx2"/>
              </a:solidFill>
            </a:endParaRPr>
          </a:p>
          <a:p>
            <a:r>
              <a:rPr lang="en-US" b="1" dirty="0">
                <a:solidFill>
                  <a:schemeClr val="tx2"/>
                </a:solidFill>
              </a:rPr>
              <a:t>Evaluate.  </a:t>
            </a:r>
          </a:p>
          <a:p>
            <a:endParaRPr lang="en-US" b="1" dirty="0">
              <a:solidFill>
                <a:schemeClr val="tx2"/>
              </a:solidFill>
            </a:endParaRPr>
          </a:p>
          <a:p>
            <a:r>
              <a:rPr lang="en-US" b="1" dirty="0">
                <a:solidFill>
                  <a:schemeClr val="tx2"/>
                </a:solidFill>
              </a:rPr>
              <a:t>If the computational model</a:t>
            </a:r>
          </a:p>
          <a:p>
            <a:r>
              <a:rPr lang="en-US" b="1" dirty="0">
                <a:solidFill>
                  <a:schemeClr val="tx2"/>
                </a:solidFill>
              </a:rPr>
              <a:t>requires adjustments, </a:t>
            </a:r>
          </a:p>
          <a:p>
            <a:r>
              <a:rPr lang="en-US" b="1" dirty="0">
                <a:solidFill>
                  <a:schemeClr val="tx2"/>
                </a:solidFill>
              </a:rPr>
              <a:t>a new evaluation set </a:t>
            </a:r>
          </a:p>
          <a:p>
            <a:r>
              <a:rPr lang="en-US" b="1" dirty="0">
                <a:solidFill>
                  <a:schemeClr val="tx2"/>
                </a:solidFill>
              </a:rPr>
              <a:t>is required</a:t>
            </a:r>
          </a:p>
          <a:p>
            <a:endParaRPr lang="en-US" b="1" dirty="0">
              <a:solidFill>
                <a:srgbClr val="FF0000"/>
              </a:solidFill>
            </a:endParaRPr>
          </a:p>
        </p:txBody>
      </p:sp>
      <p:sp>
        <p:nvSpPr>
          <p:cNvPr id="14" name="TextBox 13"/>
          <p:cNvSpPr txBox="1"/>
          <p:nvPr/>
        </p:nvSpPr>
        <p:spPr>
          <a:xfrm>
            <a:off x="772919" y="1066800"/>
            <a:ext cx="1589281" cy="400110"/>
          </a:xfrm>
          <a:prstGeom prst="rect">
            <a:avLst/>
          </a:prstGeom>
          <a:noFill/>
        </p:spPr>
        <p:txBody>
          <a:bodyPr wrap="none" rtlCol="0">
            <a:spAutoFit/>
          </a:bodyPr>
          <a:lstStyle/>
          <a:p>
            <a:r>
              <a:rPr lang="en-US" sz="2000" b="1" dirty="0">
                <a:solidFill>
                  <a:schemeClr val="tx2"/>
                </a:solidFill>
              </a:rPr>
              <a:t>Training Data</a:t>
            </a:r>
          </a:p>
        </p:txBody>
      </p:sp>
      <p:sp>
        <p:nvSpPr>
          <p:cNvPr id="15" name="TextBox 14"/>
          <p:cNvSpPr txBox="1"/>
          <p:nvPr/>
        </p:nvSpPr>
        <p:spPr>
          <a:xfrm>
            <a:off x="762000" y="3714690"/>
            <a:ext cx="1912639" cy="400110"/>
          </a:xfrm>
          <a:prstGeom prst="rect">
            <a:avLst/>
          </a:prstGeom>
          <a:noFill/>
        </p:spPr>
        <p:txBody>
          <a:bodyPr wrap="none" rtlCol="0">
            <a:spAutoFit/>
          </a:bodyPr>
          <a:lstStyle/>
          <a:p>
            <a:r>
              <a:rPr lang="en-US" sz="2000" b="1" dirty="0">
                <a:solidFill>
                  <a:schemeClr val="tx2"/>
                </a:solidFill>
              </a:rPr>
              <a:t>Evaluation  Data</a:t>
            </a:r>
          </a:p>
        </p:txBody>
      </p:sp>
      <p:sp>
        <p:nvSpPr>
          <p:cNvPr id="18" name="TextBox 17"/>
          <p:cNvSpPr txBox="1"/>
          <p:nvPr/>
        </p:nvSpPr>
        <p:spPr>
          <a:xfrm>
            <a:off x="1447800" y="6248400"/>
            <a:ext cx="6803657" cy="461665"/>
          </a:xfrm>
          <a:prstGeom prst="rect">
            <a:avLst/>
          </a:prstGeom>
          <a:noFill/>
        </p:spPr>
        <p:txBody>
          <a:bodyPr wrap="none" rtlCol="0">
            <a:spAutoFit/>
          </a:bodyPr>
          <a:lstStyle/>
          <a:p>
            <a:r>
              <a:rPr lang="en-US" sz="2000" b="1" dirty="0">
                <a:solidFill>
                  <a:schemeClr val="bg1"/>
                </a:solidFill>
              </a:rPr>
              <a:t>Estimated Performance Level should be High, and</a:t>
            </a:r>
            <a:r>
              <a:rPr lang="en-US" sz="2000" b="1" dirty="0">
                <a:solidFill>
                  <a:schemeClr val="tx2"/>
                </a:solidFill>
              </a:rPr>
              <a:t> </a:t>
            </a:r>
            <a:r>
              <a:rPr lang="en-US" sz="2400" b="1" dirty="0">
                <a:solidFill>
                  <a:srgbClr val="FF0000"/>
                </a:solidFill>
              </a:rPr>
              <a:t>Accurate</a:t>
            </a:r>
            <a:r>
              <a:rPr lang="en-US" sz="2000" b="1" dirty="0">
                <a:solidFill>
                  <a:schemeClr val="bg1"/>
                </a:solidFill>
              </a:rPr>
              <a:t>!</a:t>
            </a:r>
          </a:p>
        </p:txBody>
      </p:sp>
    </p:spTree>
    <p:extLst>
      <p:ext uri="{BB962C8B-B14F-4D97-AF65-F5344CB8AC3E}">
        <p14:creationId xmlns:p14="http://schemas.microsoft.com/office/powerpoint/2010/main" val="310043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5" end="1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ETO – Best Practices for the discovery phase for </a:t>
            </a:r>
            <a:r>
              <a:rPr lang="en-US" dirty="0" err="1"/>
              <a:t>Omics</a:t>
            </a:r>
            <a:r>
              <a:rPr lang="en-US" dirty="0"/>
              <a:t>-based test development</a:t>
            </a:r>
          </a:p>
        </p:txBody>
      </p:sp>
      <p:sp>
        <p:nvSpPr>
          <p:cNvPr id="3" name="Content Placeholder 2"/>
          <p:cNvSpPr>
            <a:spLocks noGrp="1"/>
          </p:cNvSpPr>
          <p:nvPr>
            <p:ph idx="1"/>
          </p:nvPr>
        </p:nvSpPr>
        <p:spPr/>
        <p:txBody>
          <a:bodyPr>
            <a:normAutofit/>
          </a:bodyPr>
          <a:lstStyle/>
          <a:p>
            <a:pPr marL="0" indent="0">
              <a:buNone/>
            </a:pPr>
            <a:r>
              <a:rPr lang="en-US" dirty="0"/>
              <a:t>Recommendation:</a:t>
            </a:r>
          </a:p>
          <a:p>
            <a:pPr marL="0" indent="0">
              <a:buNone/>
            </a:pPr>
            <a:endParaRPr lang="en-US" dirty="0"/>
          </a:p>
          <a:p>
            <a:pPr marL="627063" lvl="1" indent="-457200">
              <a:buFont typeface="+mj-lt"/>
              <a:buAutoNum type="alphaLcParenR"/>
            </a:pPr>
            <a:r>
              <a:rPr lang="en-US" dirty="0"/>
              <a:t>Confirm results on one or more </a:t>
            </a:r>
            <a:r>
              <a:rPr lang="en-US" b="1" dirty="0"/>
              <a:t>independent</a:t>
            </a:r>
            <a:r>
              <a:rPr lang="en-US" dirty="0"/>
              <a:t> sets of samples</a:t>
            </a:r>
          </a:p>
          <a:p>
            <a:pPr marL="795338" lvl="2" indent="-457200"/>
            <a:r>
              <a:rPr lang="en-US" dirty="0" err="1"/>
              <a:t>Oncotype</a:t>
            </a:r>
            <a:r>
              <a:rPr lang="en-US" dirty="0"/>
              <a:t> DX example: Recurrence Score was validated using multiple independent datasets (Paik et al., 2004). The data were analyzed by the same investigators, but different data sets were derived from different trials at multiple institutions.</a:t>
            </a:r>
          </a:p>
          <a:p>
            <a:pPr marL="338138" lvl="2" indent="0">
              <a:buNone/>
            </a:pPr>
            <a:endParaRPr lang="en-US" dirty="0"/>
          </a:p>
          <a:p>
            <a:pPr marL="627063" lvl="1" indent="-457200">
              <a:buFont typeface="+mj-lt"/>
              <a:buAutoNum type="alphaLcParenR"/>
            </a:pPr>
            <a:r>
              <a:rPr lang="en-US" dirty="0"/>
              <a:t>Data used for analyses should be documented and made available </a:t>
            </a:r>
          </a:p>
          <a:p>
            <a:pPr marL="627063" lvl="1" indent="-457200">
              <a:buFont typeface="+mj-lt"/>
              <a:buAutoNum type="alphaLcParenR"/>
            </a:pPr>
            <a:endParaRPr lang="en-US" dirty="0"/>
          </a:p>
          <a:p>
            <a:pPr marL="627063" lvl="1" indent="-457200">
              <a:buFont typeface="+mj-lt"/>
              <a:buAutoNum type="alphaLcParenR"/>
            </a:pPr>
            <a:r>
              <a:rPr lang="en-US" dirty="0"/>
              <a:t>Computer code and fully specified computational procedures should be documented and made available</a:t>
            </a:r>
          </a:p>
          <a:p>
            <a:pPr marL="627063" lvl="1" indent="-457200">
              <a:buFont typeface="+mj-lt"/>
              <a:buAutoNum type="alphaLcParenR"/>
            </a:pPr>
            <a:endParaRPr lang="en-US" dirty="0"/>
          </a:p>
          <a:p>
            <a:pPr marL="627063" lvl="1" indent="-457200">
              <a:buFont typeface="+mj-lt"/>
              <a:buAutoNum type="alphaLcParenR"/>
            </a:pPr>
            <a:r>
              <a:rPr lang="en-US" dirty="0" err="1"/>
              <a:t>Omics</a:t>
            </a:r>
            <a:r>
              <a:rPr lang="en-US" dirty="0"/>
              <a:t>-based test or procedure should be defined precisely, including lab protocols,  the computational procedures and the intended uses.</a:t>
            </a:r>
          </a:p>
        </p:txBody>
      </p:sp>
      <p:sp>
        <p:nvSpPr>
          <p:cNvPr id="4" name="Slide Number Placeholder 3"/>
          <p:cNvSpPr>
            <a:spLocks noGrp="1"/>
          </p:cNvSpPr>
          <p:nvPr>
            <p:ph type="sldNum" sz="quarter" idx="4"/>
          </p:nvPr>
        </p:nvSpPr>
        <p:spPr/>
        <p:txBody>
          <a:bodyPr/>
          <a:lstStyle/>
          <a:p>
            <a:fld id="{068A13EE-B1C7-7041-974E-A5C3361A8644}" type="slidenum">
              <a:rPr lang="en-US" smtClean="0"/>
              <a:pPr/>
              <a:t>15</a:t>
            </a:fld>
            <a:endParaRPr lang="en-US" dirty="0"/>
          </a:p>
        </p:txBody>
      </p:sp>
    </p:spTree>
    <p:extLst>
      <p:ext uri="{BB962C8B-B14F-4D97-AF65-F5344CB8AC3E}">
        <p14:creationId xmlns:p14="http://schemas.microsoft.com/office/powerpoint/2010/main" val="117485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228600" y="1066800"/>
            <a:ext cx="8686800" cy="5334000"/>
          </a:xfrm>
        </p:spPr>
        <p:txBody>
          <a:bodyPr>
            <a:noAutofit/>
          </a:bodyPr>
          <a:lstStyle/>
          <a:p>
            <a:pPr marL="0" indent="0">
              <a:lnSpc>
                <a:spcPct val="100000"/>
              </a:lnSpc>
              <a:spcBef>
                <a:spcPts val="200"/>
              </a:spcBef>
              <a:buNone/>
            </a:pPr>
            <a:r>
              <a:rPr lang="en-US" sz="1200" dirty="0">
                <a:latin typeface="+mn-lt"/>
                <a:hlinkClick r:id="rId3" action="ppaction://hlinkfile"/>
              </a:rPr>
              <a:t>[] ASCO 2012 Meeting Session: New Diagnostics and Devices in the Era of Comparative Effectiveness, Daniel F. Hayes, MD, chair</a:t>
            </a:r>
            <a:r>
              <a:rPr lang="en-US" sz="1200" dirty="0">
                <a:latin typeface="+mn-lt"/>
              </a:rPr>
              <a:t>.</a:t>
            </a:r>
          </a:p>
          <a:p>
            <a:pPr marL="0" indent="0">
              <a:lnSpc>
                <a:spcPct val="100000"/>
              </a:lnSpc>
              <a:spcBef>
                <a:spcPts val="200"/>
              </a:spcBef>
              <a:buNone/>
            </a:pPr>
            <a:r>
              <a:rPr lang="en-US" sz="1200" dirty="0">
                <a:latin typeface="+mn-lt"/>
              </a:rPr>
              <a:t>[] </a:t>
            </a:r>
            <a:r>
              <a:rPr lang="en-US" sz="1200" dirty="0" err="1">
                <a:latin typeface="+mn-lt"/>
              </a:rPr>
              <a:t>Baggerly</a:t>
            </a:r>
            <a:r>
              <a:rPr lang="en-US" sz="1200" dirty="0">
                <a:latin typeface="+mn-lt"/>
              </a:rPr>
              <a:t>, K.A., Morris, J.S. and </a:t>
            </a:r>
            <a:r>
              <a:rPr lang="en-US" sz="1200" dirty="0" err="1">
                <a:latin typeface="+mn-lt"/>
              </a:rPr>
              <a:t>Coombes</a:t>
            </a:r>
            <a:r>
              <a:rPr lang="en-US" sz="1200" dirty="0">
                <a:latin typeface="+mn-lt"/>
              </a:rPr>
              <a:t>, K.R. 2004. </a:t>
            </a:r>
            <a:r>
              <a:rPr lang="en-US" sz="1200" b="1" dirty="0">
                <a:latin typeface="+mn-lt"/>
              </a:rPr>
              <a:t>Reproducibility of SELDI-TOF protein patterns in serum: comparing datasets from different experiments, </a:t>
            </a:r>
            <a:r>
              <a:rPr lang="pt-BR" sz="1200" b="1" dirty="0">
                <a:latin typeface="+mn-lt"/>
              </a:rPr>
              <a:t>Bioinformatics, </a:t>
            </a:r>
            <a:r>
              <a:rPr lang="pt-BR" sz="1200" dirty="0">
                <a:latin typeface="+mn-lt"/>
              </a:rPr>
              <a:t>20(5):777–785</a:t>
            </a:r>
            <a:r>
              <a:rPr lang="en-US" sz="1200" dirty="0">
                <a:latin typeface="+mn-lt"/>
              </a:rPr>
              <a:t> </a:t>
            </a:r>
            <a:r>
              <a:rPr lang="en-US" sz="1200" dirty="0">
                <a:latin typeface="+mn-lt"/>
                <a:hlinkClick r:id="rId4"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err="1">
                <a:latin typeface="+mn-lt"/>
              </a:rPr>
              <a:t>Baggerly</a:t>
            </a:r>
            <a:r>
              <a:rPr lang="en-US" sz="1200" dirty="0">
                <a:latin typeface="+mn-lt"/>
              </a:rPr>
              <a:t>, K.A., Morris, J.S., Edmonson, S.R., </a:t>
            </a:r>
            <a:r>
              <a:rPr lang="en-US" sz="1200" dirty="0" err="1">
                <a:latin typeface="+mn-lt"/>
              </a:rPr>
              <a:t>Coombes</a:t>
            </a:r>
            <a:r>
              <a:rPr lang="en-US" sz="1200" dirty="0">
                <a:latin typeface="+mn-lt"/>
              </a:rPr>
              <a:t>, K.R.  2005.  </a:t>
            </a:r>
            <a:r>
              <a:rPr lang="en-US" sz="1200" b="1" dirty="0">
                <a:latin typeface="+mn-lt"/>
              </a:rPr>
              <a:t>Signal in Noise: Evaluating Reported Reproducibility of Serum Proteomic Tests for Ovarian Cancer, </a:t>
            </a:r>
            <a:r>
              <a:rPr lang="en-US" sz="1200" dirty="0">
                <a:latin typeface="+mn-lt"/>
              </a:rPr>
              <a:t>Journal of the National Cancer Institute, 97(4):307-309  </a:t>
            </a:r>
            <a:r>
              <a:rPr lang="en-US" sz="1200" dirty="0">
                <a:latin typeface="+mn-lt"/>
                <a:hlinkClick r:id="rId5"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err="1">
                <a:latin typeface="+mn-lt"/>
              </a:rPr>
              <a:t>Baggerly</a:t>
            </a:r>
            <a:r>
              <a:rPr lang="en-US" sz="1200" dirty="0">
                <a:latin typeface="+mn-lt"/>
              </a:rPr>
              <a:t>, K.A. and </a:t>
            </a:r>
            <a:r>
              <a:rPr lang="en-US" sz="1200" dirty="0" err="1">
                <a:latin typeface="+mn-lt"/>
              </a:rPr>
              <a:t>Coombes</a:t>
            </a:r>
            <a:r>
              <a:rPr lang="en-US" sz="1200" dirty="0">
                <a:latin typeface="+mn-lt"/>
              </a:rPr>
              <a:t>, K.R. 2009. </a:t>
            </a:r>
            <a:r>
              <a:rPr lang="en-US" sz="1200" b="1" dirty="0">
                <a:latin typeface="+mn-lt"/>
              </a:rPr>
              <a:t>Deriving </a:t>
            </a:r>
            <a:r>
              <a:rPr lang="en-US" sz="1200" b="1" dirty="0" err="1">
                <a:latin typeface="+mn-lt"/>
              </a:rPr>
              <a:t>Chemosensitivity</a:t>
            </a:r>
            <a:r>
              <a:rPr lang="en-US" sz="1200" b="1" dirty="0">
                <a:latin typeface="+mn-lt"/>
              </a:rPr>
              <a:t> from Cell Lines:  Forensic Bioinformatics and Reproducible Research in High-Throughput Biology, </a:t>
            </a:r>
            <a:r>
              <a:rPr lang="en-US" sz="1200" dirty="0">
                <a:latin typeface="+mn-lt"/>
              </a:rPr>
              <a:t>The Annals of Applied Statistics. 3(4):1309–1334 </a:t>
            </a:r>
            <a:r>
              <a:rPr lang="en-US" sz="1200" dirty="0">
                <a:latin typeface="+mn-lt"/>
                <a:hlinkClick r:id="rId6"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a:latin typeface="+mn-lt"/>
              </a:rPr>
              <a:t>Hastie, T., </a:t>
            </a:r>
            <a:r>
              <a:rPr lang="en-US" sz="1200" dirty="0" err="1">
                <a:latin typeface="+mn-lt"/>
              </a:rPr>
              <a:t>Tibshirani</a:t>
            </a:r>
            <a:r>
              <a:rPr lang="en-US" sz="1200" dirty="0">
                <a:latin typeface="+mn-lt"/>
              </a:rPr>
              <a:t>, R. and Friedman, J. 2009. </a:t>
            </a:r>
            <a:r>
              <a:rPr lang="en-US" sz="1200" b="1" dirty="0">
                <a:latin typeface="+mn-lt"/>
              </a:rPr>
              <a:t>The Elements of Statistical Learning: Data Mining, Inference, and Prediction</a:t>
            </a:r>
            <a:r>
              <a:rPr lang="en-US" sz="1200" dirty="0">
                <a:latin typeface="+mn-lt"/>
              </a:rPr>
              <a:t>, Springer; 2nd ed.</a:t>
            </a:r>
          </a:p>
          <a:p>
            <a:pPr marL="0" indent="0">
              <a:lnSpc>
                <a:spcPct val="100000"/>
              </a:lnSpc>
              <a:spcBef>
                <a:spcPts val="200"/>
              </a:spcBef>
              <a:buNone/>
            </a:pPr>
            <a:r>
              <a:rPr lang="en-US" sz="1200" dirty="0">
                <a:latin typeface="+mn-lt"/>
              </a:rPr>
              <a:t>[] Hayes D. F et al. 1996. </a:t>
            </a:r>
            <a:r>
              <a:rPr lang="en-US" sz="1200" b="1" dirty="0">
                <a:latin typeface="+mn-lt"/>
              </a:rPr>
              <a:t>Tumor marker utility grading system: a framework to evaluate clinical utility of tumor markers.</a:t>
            </a:r>
            <a:r>
              <a:rPr lang="en-US" sz="1200" dirty="0">
                <a:latin typeface="+mn-lt"/>
              </a:rPr>
              <a:t> J. Natl. Cancer Inst., 88: 1456-1466. </a:t>
            </a:r>
            <a:r>
              <a:rPr lang="en-US" sz="1200" dirty="0">
                <a:latin typeface="+mn-lt"/>
                <a:hlinkClick r:id="rId7"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err="1">
                <a:latin typeface="+mn-lt"/>
              </a:rPr>
              <a:t>Micheel</a:t>
            </a:r>
            <a:r>
              <a:rPr lang="en-US" sz="1200" dirty="0">
                <a:latin typeface="+mn-lt"/>
              </a:rPr>
              <a:t>, C.M., </a:t>
            </a:r>
            <a:r>
              <a:rPr lang="en-US" sz="1200" dirty="0" err="1">
                <a:latin typeface="+mn-lt"/>
              </a:rPr>
              <a:t>Nass</a:t>
            </a:r>
            <a:r>
              <a:rPr lang="en-US" sz="1200" dirty="0">
                <a:latin typeface="+mn-lt"/>
              </a:rPr>
              <a:t>, S.J. and </a:t>
            </a:r>
            <a:r>
              <a:rPr lang="en-US" sz="1200" dirty="0" err="1">
                <a:latin typeface="+mn-lt"/>
              </a:rPr>
              <a:t>Omenn</a:t>
            </a:r>
            <a:r>
              <a:rPr lang="en-US" sz="1200" dirty="0">
                <a:latin typeface="+mn-lt"/>
              </a:rPr>
              <a:t>, G.S., Editors. 2012. </a:t>
            </a:r>
            <a:r>
              <a:rPr lang="en-US" sz="1200" b="1" dirty="0">
                <a:latin typeface="+mn-lt"/>
              </a:rPr>
              <a:t>Evolution of Translational </a:t>
            </a:r>
            <a:r>
              <a:rPr lang="en-US" sz="1200" b="1" dirty="0" err="1">
                <a:latin typeface="+mn-lt"/>
              </a:rPr>
              <a:t>Omics</a:t>
            </a:r>
            <a:r>
              <a:rPr lang="en-US" sz="1200" b="1" dirty="0">
                <a:latin typeface="+mn-lt"/>
              </a:rPr>
              <a:t>: Lessons Learned and the Path Forward</a:t>
            </a:r>
            <a:r>
              <a:rPr lang="en-US" sz="1200" dirty="0">
                <a:latin typeface="+mn-lt"/>
              </a:rPr>
              <a:t>,  Institute of Medicine, Washington, DC: The National Academies Press. </a:t>
            </a:r>
            <a:r>
              <a:rPr lang="en-US" sz="1200" dirty="0">
                <a:latin typeface="+mn-lt"/>
                <a:hlinkClick r:id="rId8" action="ppaction://hlinkfile"/>
              </a:rPr>
              <a:t>PDF</a:t>
            </a:r>
            <a:endParaRPr lang="en-US" sz="1200" dirty="0">
              <a:latin typeface="+mn-lt"/>
            </a:endParaRPr>
          </a:p>
          <a:p>
            <a:pPr marL="0" indent="0">
              <a:lnSpc>
                <a:spcPct val="100000"/>
              </a:lnSpc>
              <a:spcBef>
                <a:spcPts val="200"/>
              </a:spcBef>
              <a:buNone/>
            </a:pPr>
            <a:r>
              <a:rPr lang="en-US" sz="1200" b="1" dirty="0">
                <a:latin typeface="+mn-lt"/>
              </a:rPr>
              <a:t>[] </a:t>
            </a:r>
            <a:r>
              <a:rPr lang="en-US" sz="1200" dirty="0">
                <a:latin typeface="+mn-lt"/>
              </a:rPr>
              <a:t>Kim, K.I. and Simon, R. 2011</a:t>
            </a:r>
            <a:r>
              <a:rPr lang="en-US" sz="1200" b="1" dirty="0">
                <a:latin typeface="+mn-lt"/>
              </a:rPr>
              <a:t>. Probabilistic classifiers with high-dimensional data, </a:t>
            </a:r>
            <a:r>
              <a:rPr lang="en-US" sz="1200" dirty="0">
                <a:latin typeface="+mn-lt"/>
              </a:rPr>
              <a:t>Biostatistics </a:t>
            </a:r>
            <a:r>
              <a:rPr lang="en-US" sz="1200" b="1" dirty="0">
                <a:latin typeface="+mn-lt"/>
              </a:rPr>
              <a:t>12</a:t>
            </a:r>
            <a:r>
              <a:rPr lang="en-US" sz="1200" dirty="0">
                <a:latin typeface="+mn-lt"/>
              </a:rPr>
              <a:t>(3): 399–412. </a:t>
            </a:r>
            <a:r>
              <a:rPr lang="en-US" sz="1200" dirty="0">
                <a:latin typeface="+mn-lt"/>
                <a:hlinkClick r:id="rId9" action="ppaction://hlinkfile"/>
              </a:rPr>
              <a:t>PDF</a:t>
            </a:r>
            <a:r>
              <a:rPr lang="en-US" sz="1200" dirty="0">
                <a:latin typeface="+mn-lt"/>
              </a:rPr>
              <a:t> </a:t>
            </a:r>
            <a:r>
              <a:rPr lang="en-US" sz="1200" dirty="0" err="1">
                <a:latin typeface="+mn-lt"/>
                <a:hlinkClick r:id="rId10" action="ppaction://hlinkfile"/>
              </a:rPr>
              <a:t>suppPDF</a:t>
            </a:r>
            <a:endParaRPr lang="en-US" sz="1200" dirty="0">
              <a:latin typeface="+mn-lt"/>
            </a:endParaRPr>
          </a:p>
          <a:p>
            <a:pPr marL="0" indent="0">
              <a:lnSpc>
                <a:spcPct val="100000"/>
              </a:lnSpc>
              <a:spcBef>
                <a:spcPts val="200"/>
              </a:spcBef>
              <a:buNone/>
            </a:pPr>
            <a:r>
              <a:rPr lang="en-US" sz="1200" b="1" dirty="0">
                <a:latin typeface="+mn-lt"/>
              </a:rPr>
              <a:t>[]</a:t>
            </a:r>
            <a:r>
              <a:rPr lang="en-US" sz="1200" dirty="0">
                <a:latin typeface="+mn-lt"/>
              </a:rPr>
              <a:t> </a:t>
            </a:r>
            <a:r>
              <a:rPr lang="en-US" sz="1200" dirty="0" err="1">
                <a:latin typeface="+mn-lt"/>
              </a:rPr>
              <a:t>Petricoin</a:t>
            </a:r>
            <a:r>
              <a:rPr lang="en-US" sz="1200" dirty="0">
                <a:latin typeface="+mn-lt"/>
              </a:rPr>
              <a:t> E.F., </a:t>
            </a:r>
            <a:r>
              <a:rPr lang="en-US" sz="1200" dirty="0" err="1">
                <a:latin typeface="+mn-lt"/>
              </a:rPr>
              <a:t>Ardekani</a:t>
            </a:r>
            <a:r>
              <a:rPr lang="en-US" sz="1200" dirty="0">
                <a:latin typeface="+mn-lt"/>
              </a:rPr>
              <a:t>, A.M. et. al. 2002. </a:t>
            </a:r>
            <a:r>
              <a:rPr lang="en-US" sz="1200" b="1" dirty="0">
                <a:latin typeface="+mn-lt"/>
              </a:rPr>
              <a:t>Use of proteomic patterns in serum to identify ovarian cancer, </a:t>
            </a:r>
            <a:r>
              <a:rPr lang="en-US" sz="1200" dirty="0">
                <a:latin typeface="+mn-lt"/>
              </a:rPr>
              <a:t>The Lancet, 359(9306):572-577 </a:t>
            </a:r>
            <a:r>
              <a:rPr lang="en-US" sz="1200" dirty="0">
                <a:latin typeface="+mn-lt"/>
                <a:hlinkClick r:id="rId11" action="ppaction://hlinkfile"/>
              </a:rPr>
              <a:t>PDF</a:t>
            </a:r>
            <a:endParaRPr lang="en-US" sz="1200" dirty="0">
              <a:latin typeface="+mn-lt"/>
            </a:endParaRPr>
          </a:p>
          <a:p>
            <a:pPr marL="0" indent="0">
              <a:lnSpc>
                <a:spcPct val="100000"/>
              </a:lnSpc>
              <a:spcBef>
                <a:spcPts val="200"/>
              </a:spcBef>
              <a:buNone/>
            </a:pPr>
            <a:r>
              <a:rPr lang="en-US" sz="1200" dirty="0">
                <a:latin typeface="+mn-lt"/>
              </a:rPr>
              <a:t>[] Simon, R., </a:t>
            </a:r>
            <a:r>
              <a:rPr lang="en-US" sz="1200" dirty="0" err="1">
                <a:latin typeface="+mn-lt"/>
              </a:rPr>
              <a:t>Radmacher</a:t>
            </a:r>
            <a:r>
              <a:rPr lang="en-US" sz="1200" dirty="0">
                <a:latin typeface="+mn-lt"/>
              </a:rPr>
              <a:t>, M.D., Dobbin, K., </a:t>
            </a:r>
            <a:r>
              <a:rPr lang="en-US" sz="1200" dirty="0" err="1">
                <a:latin typeface="+mn-lt"/>
              </a:rPr>
              <a:t>McShane</a:t>
            </a:r>
            <a:r>
              <a:rPr lang="en-US" sz="1200" dirty="0">
                <a:latin typeface="+mn-lt"/>
              </a:rPr>
              <a:t>, L.M.  2003. </a:t>
            </a:r>
            <a:r>
              <a:rPr lang="en-US" sz="1200" b="1" dirty="0">
                <a:latin typeface="+mn-lt"/>
              </a:rPr>
              <a:t>Pitfalls in the Use of DNA Microarray Data for Diagnostic and Prognostic Classification</a:t>
            </a:r>
            <a:r>
              <a:rPr lang="en-US" sz="1200" dirty="0">
                <a:latin typeface="+mn-lt"/>
              </a:rPr>
              <a:t>, Journal of the National Cancer Institute, 95(1): 14-18 </a:t>
            </a:r>
            <a:r>
              <a:rPr lang="en-US" sz="1200" dirty="0">
                <a:latin typeface="+mn-lt"/>
                <a:hlinkClick r:id="rId12" action="ppaction://hlinkfile"/>
              </a:rPr>
              <a:t>PDF</a:t>
            </a:r>
            <a:r>
              <a:rPr lang="en-US" sz="1200" dirty="0">
                <a:latin typeface="+mn-lt"/>
              </a:rPr>
              <a:t> </a:t>
            </a:r>
            <a:r>
              <a:rPr lang="en-US" sz="1200" dirty="0" err="1">
                <a:latin typeface="+mn-lt"/>
                <a:hlinkClick r:id="rId13" action="ppaction://hlinkfile"/>
              </a:rPr>
              <a:t>supp_PDF</a:t>
            </a:r>
            <a:endParaRPr lang="en-US" sz="1200" dirty="0">
              <a:latin typeface="+mn-lt"/>
            </a:endParaRPr>
          </a:p>
          <a:p>
            <a:pPr marL="0" indent="0">
              <a:lnSpc>
                <a:spcPct val="100000"/>
              </a:lnSpc>
              <a:spcBef>
                <a:spcPts val="200"/>
              </a:spcBef>
              <a:buNone/>
            </a:pPr>
            <a:r>
              <a:rPr lang="en-US" sz="1200" dirty="0">
                <a:latin typeface="+mn-lt"/>
              </a:rPr>
              <a:t>[] Simon, R., Paik, S., Hayes, D.F.  2009. </a:t>
            </a:r>
            <a:r>
              <a:rPr lang="en-US" sz="1200" b="1" dirty="0">
                <a:latin typeface="+mn-lt"/>
              </a:rPr>
              <a:t>Use of Archived Specimens in Evaluation of Prognostic and Predictive Biomarkers</a:t>
            </a:r>
            <a:r>
              <a:rPr lang="en-US" sz="1200" dirty="0">
                <a:latin typeface="+mn-lt"/>
              </a:rPr>
              <a:t>. Journal of the National Cancer Institute, 101(21): 1446-1452 </a:t>
            </a:r>
            <a:r>
              <a:rPr lang="en-US" sz="1200" dirty="0">
                <a:latin typeface="+mn-lt"/>
                <a:hlinkClick r:id="rId14" action="ppaction://hlinkfile"/>
              </a:rPr>
              <a:t>PDF</a:t>
            </a:r>
            <a:endParaRPr lang="en-US" sz="1200" dirty="0">
              <a:latin typeface="+mn-lt"/>
            </a:endParaRPr>
          </a:p>
          <a:p>
            <a:pPr marL="0" indent="0">
              <a:lnSpc>
                <a:spcPct val="100000"/>
              </a:lnSpc>
              <a:spcBef>
                <a:spcPts val="200"/>
              </a:spcBef>
              <a:buNone/>
            </a:pPr>
            <a:r>
              <a:rPr lang="en-US" sz="1200" dirty="0">
                <a:latin typeface="+mn-lt"/>
              </a:rPr>
              <a:t>[] </a:t>
            </a:r>
            <a:r>
              <a:rPr lang="en-US" sz="1200" dirty="0" err="1">
                <a:latin typeface="+mn-lt"/>
              </a:rPr>
              <a:t>Teutsch</a:t>
            </a:r>
            <a:r>
              <a:rPr lang="en-US" sz="1200" dirty="0">
                <a:latin typeface="+mn-lt"/>
              </a:rPr>
              <a:t>, S.M., Bradley, L.A., et.al. 2009. </a:t>
            </a:r>
            <a:r>
              <a:rPr lang="en-US" sz="1200" b="1" dirty="0">
                <a:latin typeface="+mn-lt"/>
              </a:rPr>
              <a:t>The Evaluation of Genomic Applications in Practice and Prevention (EGAPP) initiative: methods of the EGAPP Working Group</a:t>
            </a:r>
            <a:r>
              <a:rPr lang="en-US" sz="1200" dirty="0">
                <a:latin typeface="+mn-lt"/>
              </a:rPr>
              <a:t>. Genetics in Medicine 11(1):3-14, </a:t>
            </a:r>
            <a:r>
              <a:rPr lang="en-US" sz="1200" dirty="0">
                <a:latin typeface="+mn-lt"/>
                <a:hlinkClick r:id="rId15" action="ppaction://hlinkfile"/>
              </a:rPr>
              <a:t>PDF</a:t>
            </a:r>
            <a:endParaRPr lang="en-US" sz="1200" dirty="0">
              <a:latin typeface="+mn-lt"/>
            </a:endParaRPr>
          </a:p>
          <a:p>
            <a:pPr marL="0" indent="0">
              <a:lnSpc>
                <a:spcPct val="100000"/>
              </a:lnSpc>
              <a:spcBef>
                <a:spcPts val="200"/>
              </a:spcBef>
              <a:buNone/>
            </a:pPr>
            <a:r>
              <a:rPr lang="en-US" sz="1200" dirty="0">
                <a:latin typeface="+mn-lt"/>
              </a:rPr>
              <a:t>[] </a:t>
            </a:r>
            <a:r>
              <a:rPr lang="en-US" sz="1200" dirty="0" err="1">
                <a:latin typeface="+mn-lt"/>
              </a:rPr>
              <a:t>Varma</a:t>
            </a:r>
            <a:r>
              <a:rPr lang="en-US" sz="1200" dirty="0">
                <a:latin typeface="+mn-lt"/>
              </a:rPr>
              <a:t>, S. and Simon, R. 2006.  </a:t>
            </a:r>
            <a:r>
              <a:rPr lang="en-US" sz="1200" b="1" dirty="0">
                <a:latin typeface="+mn-lt"/>
              </a:rPr>
              <a:t>Bias in error estimation when using cross-validation for model selection</a:t>
            </a:r>
            <a:r>
              <a:rPr lang="en-US" sz="1200" dirty="0">
                <a:latin typeface="+mn-lt"/>
              </a:rPr>
              <a:t>, BMC Bioinformatics, 7:91. </a:t>
            </a:r>
            <a:r>
              <a:rPr lang="en-US" sz="1200" dirty="0">
                <a:latin typeface="+mn-lt"/>
                <a:hlinkClick r:id="rId16" action="ppaction://hlinkfile"/>
              </a:rPr>
              <a:t>PDF</a:t>
            </a:r>
            <a:endParaRPr lang="en-US" sz="1200" dirty="0">
              <a:latin typeface="+mn-lt"/>
            </a:endParaRPr>
          </a:p>
          <a:p>
            <a:pPr marL="0" indent="0">
              <a:lnSpc>
                <a:spcPct val="100000"/>
              </a:lnSpc>
              <a:spcBef>
                <a:spcPts val="200"/>
              </a:spcBef>
              <a:buNone/>
            </a:pPr>
            <a:r>
              <a:rPr lang="en-US" sz="1200" dirty="0">
                <a:latin typeface="+mn-lt"/>
              </a:rPr>
              <a:t>[] Villanueva, J., Shaffer, D.R.,  et. al. 2006.  </a:t>
            </a:r>
            <a:r>
              <a:rPr lang="en-US" sz="1200" b="1" dirty="0">
                <a:latin typeface="+mn-lt"/>
              </a:rPr>
              <a:t>Differential </a:t>
            </a:r>
            <a:r>
              <a:rPr lang="en-US" sz="1200" b="1" dirty="0" err="1">
                <a:latin typeface="+mn-lt"/>
              </a:rPr>
              <a:t>exoprotease</a:t>
            </a:r>
            <a:r>
              <a:rPr lang="en-US" sz="1200" b="1" dirty="0">
                <a:latin typeface="+mn-lt"/>
              </a:rPr>
              <a:t> activities confer tumor-specific serum </a:t>
            </a:r>
            <a:r>
              <a:rPr lang="en-US" sz="1200" b="1" dirty="0" err="1">
                <a:latin typeface="+mn-lt"/>
              </a:rPr>
              <a:t>peptidome</a:t>
            </a:r>
            <a:r>
              <a:rPr lang="en-US" sz="1200" b="1" dirty="0">
                <a:latin typeface="+mn-lt"/>
              </a:rPr>
              <a:t> patterns</a:t>
            </a:r>
            <a:r>
              <a:rPr lang="en-US" sz="1200" dirty="0">
                <a:latin typeface="+mn-lt"/>
              </a:rPr>
              <a:t>, The Journal of Clinical Investigation http://www.jci.org 116(1):271-284 </a:t>
            </a:r>
            <a:r>
              <a:rPr lang="en-US" sz="1200" dirty="0">
                <a:latin typeface="+mn-lt"/>
                <a:hlinkClick r:id="rId17" action="ppaction://hlinkfile"/>
              </a:rPr>
              <a:t>PDF</a:t>
            </a:r>
            <a:endParaRPr lang="en-US" sz="1200" dirty="0">
              <a:latin typeface="+mn-lt"/>
            </a:endParaRPr>
          </a:p>
        </p:txBody>
      </p:sp>
      <p:sp>
        <p:nvSpPr>
          <p:cNvPr id="5" name="Slide Number Placeholder 11"/>
          <p:cNvSpPr>
            <a:spLocks noGrp="1"/>
          </p:cNvSpPr>
          <p:nvPr>
            <p:ph type="sldNum" sz="quarter" idx="4"/>
          </p:nvPr>
        </p:nvSpPr>
        <p:spPr>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16</a:t>
            </a:fld>
            <a:endParaRPr lang="en-US" dirty="0"/>
          </a:p>
        </p:txBody>
      </p:sp>
    </p:spTree>
    <p:extLst>
      <p:ext uri="{BB962C8B-B14F-4D97-AF65-F5344CB8AC3E}">
        <p14:creationId xmlns:p14="http://schemas.microsoft.com/office/powerpoint/2010/main" val="4705153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 </a:t>
            </a:r>
            <a:r>
              <a:rPr lang="en-US"/>
              <a:t>batch effects</a:t>
            </a:r>
            <a:endParaRPr lang="en-US" dirty="0"/>
          </a:p>
        </p:txBody>
      </p:sp>
      <p:sp>
        <p:nvSpPr>
          <p:cNvPr id="3" name="Content Placeholder 2"/>
          <p:cNvSpPr>
            <a:spLocks noGrp="1"/>
          </p:cNvSpPr>
          <p:nvPr>
            <p:ph idx="1"/>
          </p:nvPr>
        </p:nvSpPr>
        <p:spPr/>
        <p:txBody>
          <a:bodyPr>
            <a:normAutofit/>
          </a:bodyPr>
          <a:lstStyle/>
          <a:p>
            <a:pPr marL="0" indent="0">
              <a:buNone/>
            </a:pPr>
            <a:r>
              <a:rPr lang="en-US" sz="2000" b="1" dirty="0"/>
              <a:t>Batch effects on microarray data</a:t>
            </a:r>
          </a:p>
          <a:p>
            <a:pPr marL="0" indent="0">
              <a:buNone/>
            </a:pPr>
            <a:r>
              <a:rPr lang="en-US" sz="1600" dirty="0"/>
              <a:t>[] Leek, J. T., R. B. </a:t>
            </a:r>
            <a:r>
              <a:rPr lang="en-US" sz="1600" dirty="0" err="1"/>
              <a:t>Scharpf</a:t>
            </a:r>
            <a:r>
              <a:rPr lang="en-US" sz="1600" dirty="0"/>
              <a:t>, H. C. Bravo, D. </a:t>
            </a:r>
            <a:r>
              <a:rPr lang="en-US" sz="1600" dirty="0" err="1"/>
              <a:t>Simcha</a:t>
            </a:r>
            <a:r>
              <a:rPr lang="en-US" sz="1600" dirty="0"/>
              <a:t>, B. </a:t>
            </a:r>
            <a:r>
              <a:rPr lang="en-US" sz="1600" dirty="0" err="1"/>
              <a:t>Langmead</a:t>
            </a:r>
            <a:r>
              <a:rPr lang="en-US" sz="1600" dirty="0"/>
              <a:t>, W. E. Johnson, D. </a:t>
            </a:r>
            <a:r>
              <a:rPr lang="en-US" sz="1600" dirty="0" err="1"/>
              <a:t>Geman</a:t>
            </a:r>
            <a:r>
              <a:rPr lang="en-US" sz="1600" dirty="0"/>
              <a:t>, K. </a:t>
            </a:r>
            <a:r>
              <a:rPr lang="en-US" sz="1600" dirty="0" err="1"/>
              <a:t>Baggerly</a:t>
            </a:r>
            <a:r>
              <a:rPr lang="en-US" sz="1600" dirty="0"/>
              <a:t>, and R. </a:t>
            </a:r>
            <a:r>
              <a:rPr lang="en-US" sz="1600" dirty="0" err="1"/>
              <a:t>A.Irizarry</a:t>
            </a:r>
            <a:r>
              <a:rPr lang="en-US" sz="1600" dirty="0"/>
              <a:t>. 2010. </a:t>
            </a:r>
            <a:r>
              <a:rPr lang="en-US" sz="1600" b="1" dirty="0"/>
              <a:t>Tackling the widespread and critical impact of batch effects in high-throughput data</a:t>
            </a:r>
            <a:r>
              <a:rPr lang="en-US" sz="1600" dirty="0"/>
              <a:t>. Nat Rev Genet 11(10):733-739. </a:t>
            </a:r>
            <a:r>
              <a:rPr lang="en-US" sz="1600" dirty="0">
                <a:hlinkClick r:id="rId3" action="ppaction://hlinkfile"/>
              </a:rPr>
              <a:t>PDF </a:t>
            </a:r>
            <a:r>
              <a:rPr lang="en-US" sz="1600" dirty="0" err="1">
                <a:hlinkClick r:id="rId4"/>
              </a:rPr>
              <a:t>supPDF</a:t>
            </a:r>
            <a:endParaRPr lang="en-US" sz="1600" dirty="0"/>
          </a:p>
          <a:p>
            <a:pPr marL="0" indent="0">
              <a:buNone/>
            </a:pPr>
            <a:r>
              <a:rPr lang="en-US" sz="1600" dirty="0"/>
              <a:t>[] Leek JT, </a:t>
            </a:r>
            <a:r>
              <a:rPr lang="en-US" sz="1600" dirty="0" err="1"/>
              <a:t>Storey</a:t>
            </a:r>
            <a:r>
              <a:rPr lang="en-US" sz="1600" dirty="0"/>
              <a:t> JD. 2007. </a:t>
            </a:r>
            <a:r>
              <a:rPr lang="en-US" sz="1600" b="1" dirty="0"/>
              <a:t>Capturing heterogeneity in gene expression studies by surrogate variable analysis.</a:t>
            </a:r>
            <a:r>
              <a:rPr lang="en-US" sz="1600" dirty="0"/>
              <a:t> </a:t>
            </a:r>
            <a:r>
              <a:rPr lang="en-US" sz="1600" dirty="0" err="1"/>
              <a:t>PLoS</a:t>
            </a:r>
            <a:r>
              <a:rPr lang="en-US" sz="1600" dirty="0"/>
              <a:t> Genet 3(9): e161. </a:t>
            </a:r>
            <a:r>
              <a:rPr lang="en-US" sz="1600" dirty="0">
                <a:hlinkClick r:id="rId5" action="ppaction://hlinkfile"/>
              </a:rPr>
              <a:t>PDF</a:t>
            </a:r>
            <a:endParaRPr lang="en-US" sz="1600" dirty="0"/>
          </a:p>
          <a:p>
            <a:pPr marL="0" indent="0">
              <a:buNone/>
            </a:pPr>
            <a:r>
              <a:rPr lang="en-US" sz="1600" dirty="0"/>
              <a:t>[] Gagnon-</a:t>
            </a:r>
            <a:r>
              <a:rPr lang="en-US" sz="1600" dirty="0" err="1"/>
              <a:t>Bartsch</a:t>
            </a:r>
            <a:r>
              <a:rPr lang="en-US" sz="1600" dirty="0"/>
              <a:t> JA, Speed TP. 2012. </a:t>
            </a:r>
            <a:r>
              <a:rPr lang="en-US" sz="1600" b="1" dirty="0"/>
              <a:t>Using control genes to correct for unwanted variation in microarray data</a:t>
            </a:r>
            <a:r>
              <a:rPr lang="en-US" sz="1600" dirty="0"/>
              <a:t>. Biostatistics. 13(3):539-52. </a:t>
            </a:r>
            <a:r>
              <a:rPr lang="en-US" sz="1600" dirty="0">
                <a:hlinkClick r:id="rId6" action="ppaction://hlinkfile"/>
              </a:rPr>
              <a:t>PDF </a:t>
            </a:r>
            <a:endParaRPr lang="en-US" sz="1600" dirty="0"/>
          </a:p>
          <a:p>
            <a:pPr marL="0" indent="0">
              <a:buNone/>
            </a:pPr>
            <a:r>
              <a:rPr lang="en-US" sz="1600" dirty="0"/>
              <a:t>[] Scherer, A., Editor. 2009. </a:t>
            </a:r>
            <a:r>
              <a:rPr lang="en-US" sz="1600" b="1" dirty="0"/>
              <a:t>Batch Effects and Noise in Microarray Experiments: Sources and Solutions</a:t>
            </a:r>
            <a:r>
              <a:rPr lang="en-US" sz="1600" dirty="0"/>
              <a:t>. John Wiley &amp; Sons, Ltd. ISBN: 978-0-470-74138-2 </a:t>
            </a:r>
            <a:r>
              <a:rPr lang="en-US" sz="1600" dirty="0">
                <a:hlinkClick r:id="rId7" action="ppaction://hlinkfile"/>
              </a:rPr>
              <a:t>PDF</a:t>
            </a:r>
            <a:endParaRPr lang="en-US" sz="1600" dirty="0"/>
          </a:p>
          <a:p>
            <a:pPr marL="0" indent="0">
              <a:buNone/>
            </a:pPr>
            <a:endParaRPr lang="en-US" dirty="0"/>
          </a:p>
          <a:p>
            <a:pPr marL="0" indent="0">
              <a:buNone/>
            </a:pPr>
            <a:r>
              <a:rPr lang="en-US" sz="2000" b="1" dirty="0"/>
              <a:t>Batch effects in sequencing data</a:t>
            </a:r>
          </a:p>
          <a:p>
            <a:pPr marL="0" indent="0">
              <a:buNone/>
            </a:pPr>
            <a:r>
              <a:rPr lang="en-US" sz="1600" dirty="0"/>
              <a:t>[] Auer, P.L. and </a:t>
            </a:r>
            <a:r>
              <a:rPr lang="en-US" sz="1600" dirty="0" err="1"/>
              <a:t>Doerge,R.W</a:t>
            </a:r>
            <a:r>
              <a:rPr lang="en-US" sz="1600" b="1" dirty="0"/>
              <a:t>. </a:t>
            </a:r>
            <a:r>
              <a:rPr lang="en-US" sz="1600" dirty="0"/>
              <a:t>2010. </a:t>
            </a:r>
            <a:r>
              <a:rPr lang="en-US" sz="1600" b="1" dirty="0"/>
              <a:t>Statistical Design and Analysis of RNA Sequencing Data. </a:t>
            </a:r>
            <a:r>
              <a:rPr lang="en-US" sz="1600" dirty="0"/>
              <a:t>Genetics Society of America DOI: 10.1534/genetics.110.11498. </a:t>
            </a:r>
            <a:r>
              <a:rPr lang="en-US" sz="1600" dirty="0">
                <a:hlinkClick r:id="rId3" action="ppaction://hlinkfile"/>
              </a:rPr>
              <a:t>PDF </a:t>
            </a:r>
            <a:r>
              <a:rPr lang="en-US" sz="1600" dirty="0" err="1">
                <a:hlinkClick r:id="rId4"/>
              </a:rPr>
              <a:t>Supp</a:t>
            </a:r>
            <a:endParaRPr lang="en-US" sz="1600" dirty="0"/>
          </a:p>
        </p:txBody>
      </p:sp>
      <p:sp>
        <p:nvSpPr>
          <p:cNvPr id="4" name="Slide Number Placeholder 3"/>
          <p:cNvSpPr>
            <a:spLocks noGrp="1"/>
          </p:cNvSpPr>
          <p:nvPr>
            <p:ph type="sldNum" sz="quarter" idx="4"/>
          </p:nvPr>
        </p:nvSpPr>
        <p:spPr/>
        <p:txBody>
          <a:bodyPr/>
          <a:lstStyle/>
          <a:p>
            <a:fld id="{068A13EE-B1C7-7041-974E-A5C3361A8644}" type="slidenum">
              <a:rPr lang="en-US" smtClean="0"/>
              <a:pPr/>
              <a:t>17</a:t>
            </a:fld>
            <a:endParaRPr lang="en-US" dirty="0"/>
          </a:p>
        </p:txBody>
      </p:sp>
    </p:spTree>
    <p:extLst>
      <p:ext uri="{BB962C8B-B14F-4D97-AF65-F5344CB8AC3E}">
        <p14:creationId xmlns:p14="http://schemas.microsoft.com/office/powerpoint/2010/main" val="65023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4"/>
          </p:nvPr>
        </p:nvSpPr>
        <p:spPr/>
        <p:txBody>
          <a:bodyPr/>
          <a:lstStyle/>
          <a:p>
            <a:fld id="{068A13EE-B1C7-7041-974E-A5C3361A8644}" type="slidenum">
              <a:rPr lang="en-US" smtClean="0"/>
              <a:pPr/>
              <a:t>18</a:t>
            </a:fld>
            <a:endParaRPr lang="en-US" dirty="0"/>
          </a:p>
        </p:txBody>
      </p:sp>
    </p:spTree>
    <p:extLst>
      <p:ext uri="{BB962C8B-B14F-4D97-AF65-F5344CB8AC3E}">
        <p14:creationId xmlns:p14="http://schemas.microsoft.com/office/powerpoint/2010/main" val="4147029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457200" y="1371600"/>
            <a:ext cx="8229600" cy="4814430"/>
          </a:xfrm>
        </p:spPr>
        <p:txBody>
          <a:bodyPr>
            <a:normAutofit/>
          </a:bodyPr>
          <a:lstStyle/>
          <a:p>
            <a:pPr lvl="1">
              <a:spcAft>
                <a:spcPts val="600"/>
              </a:spcAft>
            </a:pPr>
            <a:r>
              <a:rPr lang="en-US" dirty="0"/>
              <a:t>Recommendations come from </a:t>
            </a:r>
            <a:r>
              <a:rPr lang="en-US" b="1" dirty="0"/>
              <a:t>basic scientific principles </a:t>
            </a:r>
            <a:r>
              <a:rPr lang="en-US" dirty="0"/>
              <a:t>and are fairly obvious.</a:t>
            </a:r>
          </a:p>
          <a:p>
            <a:pPr lvl="1">
              <a:spcAft>
                <a:spcPts val="600"/>
              </a:spcAft>
            </a:pPr>
            <a:r>
              <a:rPr lang="en-US" dirty="0"/>
              <a:t>As we strive to </a:t>
            </a:r>
            <a:r>
              <a:rPr lang="en-US" b="1" dirty="0"/>
              <a:t>accelerate</a:t>
            </a:r>
            <a:r>
              <a:rPr lang="en-US" dirty="0"/>
              <a:t> the development process, we are incurring higher risks of errors; we should </a:t>
            </a:r>
            <a:r>
              <a:rPr lang="en-US"/>
              <a:t>simultaneously strive </a:t>
            </a:r>
            <a:r>
              <a:rPr lang="en-US" dirty="0"/>
              <a:t>to make the process </a:t>
            </a:r>
            <a:r>
              <a:rPr lang="en-US" b="1" dirty="0"/>
              <a:t>more robust </a:t>
            </a:r>
            <a:r>
              <a:rPr lang="en-US" dirty="0"/>
              <a:t>and rigorous.</a:t>
            </a:r>
          </a:p>
          <a:p>
            <a:pPr lvl="1">
              <a:spcAft>
                <a:spcPts val="600"/>
              </a:spcAft>
            </a:pPr>
            <a:r>
              <a:rPr lang="en-US" dirty="0"/>
              <a:t>Most errors or flawed results are based on </a:t>
            </a:r>
            <a:r>
              <a:rPr lang="en-US" b="1" dirty="0"/>
              <a:t>faulty assumptions.</a:t>
            </a:r>
          </a:p>
          <a:p>
            <a:pPr lvl="1">
              <a:spcAft>
                <a:spcPts val="600"/>
              </a:spcAft>
            </a:pPr>
            <a:r>
              <a:rPr lang="en-US" dirty="0"/>
              <a:t>As we get flooded with more and more data, it is </a:t>
            </a:r>
            <a:r>
              <a:rPr lang="en-US" b="1" dirty="0"/>
              <a:t>Good Quality Data</a:t>
            </a:r>
            <a:r>
              <a:rPr lang="en-US" dirty="0"/>
              <a:t> and </a:t>
            </a:r>
            <a:r>
              <a:rPr lang="en-US" b="1" dirty="0"/>
              <a:t>Careful Data Analysis</a:t>
            </a:r>
            <a:r>
              <a:rPr lang="en-US" dirty="0"/>
              <a:t> that is going to save the day.</a:t>
            </a:r>
          </a:p>
          <a:p>
            <a:pPr lvl="1">
              <a:spcAft>
                <a:spcPts val="600"/>
              </a:spcAft>
            </a:pPr>
            <a:r>
              <a:rPr lang="en-US" dirty="0"/>
              <a:t>It is </a:t>
            </a:r>
            <a:r>
              <a:rPr lang="en-US" b="1" dirty="0"/>
              <a:t>everybody’s responsibility </a:t>
            </a:r>
            <a:r>
              <a:rPr lang="en-US" dirty="0"/>
              <a:t>to ensure that sensible methods are used.</a:t>
            </a:r>
          </a:p>
          <a:p>
            <a:pPr lvl="1">
              <a:spcAft>
                <a:spcPts val="600"/>
              </a:spcAft>
            </a:pPr>
            <a:endParaRPr lang="en-US" dirty="0"/>
          </a:p>
        </p:txBody>
      </p:sp>
      <p:sp>
        <p:nvSpPr>
          <p:cNvPr id="8" name="Slide Number Placeholder 11"/>
          <p:cNvSpPr>
            <a:spLocks noGrp="1"/>
          </p:cNvSpPr>
          <p:nvPr>
            <p:ph type="sldNum" sz="quarter" idx="4"/>
          </p:nvPr>
        </p:nvSpPr>
        <p:spPr>
          <a:prstGeom prst="rect">
            <a:avLst/>
          </a:prstGeom>
        </p:spPr>
        <p:txBody>
          <a:bodyPr vert="horz" lIns="91440" tIns="45720" rIns="91440" bIns="45720" rtlCol="0" anchor="ctr"/>
          <a:lstStyle>
            <a:lvl1pPr algn="ctr">
              <a:defRPr sz="1000">
                <a:solidFill>
                  <a:srgbClr val="FFFFFF"/>
                </a:solidFill>
                <a:latin typeface="Arial"/>
                <a:cs typeface="Arial"/>
              </a:defRPr>
            </a:lvl1pPr>
          </a:lstStyle>
          <a:p>
            <a:fld id="{068A13EE-B1C7-7041-974E-A5C3361A8644}" type="slidenum">
              <a:rPr lang="en-US" smtClean="0"/>
              <a:pPr/>
              <a:t>19</a:t>
            </a:fld>
            <a:endParaRPr lang="en-US" dirty="0"/>
          </a:p>
        </p:txBody>
      </p:sp>
      <p:sp>
        <p:nvSpPr>
          <p:cNvPr id="5" name="Title 4"/>
          <p:cNvSpPr>
            <a:spLocks noGrp="1"/>
          </p:cNvSpPr>
          <p:nvPr>
            <p:ph type="title"/>
          </p:nvPr>
        </p:nvSpPr>
        <p:spPr>
          <a:xfrm>
            <a:off x="457200" y="79263"/>
            <a:ext cx="8229600" cy="946462"/>
          </a:xfrm>
        </p:spPr>
        <p:txBody>
          <a:bodyPr/>
          <a:lstStyle/>
          <a:p>
            <a:r>
              <a:rPr lang="en-US" dirty="0"/>
              <a:t>Laying down the foundation for reproducible findings - Summary</a:t>
            </a:r>
          </a:p>
        </p:txBody>
      </p:sp>
    </p:spTree>
    <p:extLst>
      <p:ext uri="{BB962C8B-B14F-4D97-AF65-F5344CB8AC3E}">
        <p14:creationId xmlns:p14="http://schemas.microsoft.com/office/powerpoint/2010/main" val="10694937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Emerging </a:t>
            </a:r>
            <a:r>
              <a:rPr lang="en-US" dirty="0" err="1"/>
              <a:t>Omics</a:t>
            </a:r>
            <a:r>
              <a:rPr lang="en-US" dirty="0"/>
              <a:t> Data Analysis Techniques</a:t>
            </a:r>
          </a:p>
        </p:txBody>
      </p:sp>
      <p:sp>
        <p:nvSpPr>
          <p:cNvPr id="3" name="Content Placeholder 2"/>
          <p:cNvSpPr>
            <a:spLocks noGrp="1"/>
          </p:cNvSpPr>
          <p:nvPr>
            <p:ph idx="1"/>
          </p:nvPr>
        </p:nvSpPr>
        <p:spPr/>
        <p:txBody>
          <a:bodyPr/>
          <a:lstStyle/>
          <a:p>
            <a:r>
              <a:rPr lang="en-US" dirty="0"/>
              <a:t>Extremely high data dimensionality gives rise to extreme risk of </a:t>
            </a:r>
            <a:r>
              <a:rPr lang="en-US" dirty="0" err="1"/>
              <a:t>overfitting</a:t>
            </a:r>
            <a:r>
              <a:rPr lang="en-US" dirty="0"/>
              <a:t> computational models</a:t>
            </a:r>
          </a:p>
          <a:p>
            <a:pPr lvl="1">
              <a:buFont typeface="Wingdings" pitchFamily="2" charset="2"/>
              <a:buChar char="Ø"/>
            </a:pPr>
            <a:r>
              <a:rPr lang="en-US" dirty="0"/>
              <a:t> Analyzing several independent sequencing data sets is crucial to overcoming these risks.</a:t>
            </a:r>
          </a:p>
        </p:txBody>
      </p:sp>
      <p:sp>
        <p:nvSpPr>
          <p:cNvPr id="4" name="Slide Number Placeholder 3"/>
          <p:cNvSpPr>
            <a:spLocks noGrp="1"/>
          </p:cNvSpPr>
          <p:nvPr>
            <p:ph type="sldNum" sz="quarter" idx="4"/>
          </p:nvPr>
        </p:nvSpPr>
        <p:spPr/>
        <p:txBody>
          <a:bodyPr/>
          <a:lstStyle/>
          <a:p>
            <a:fld id="{068A13EE-B1C7-7041-974E-A5C3361A8644}" type="slidenum">
              <a:rPr lang="en-US" smtClean="0"/>
              <a:pPr/>
              <a:t>20</a:t>
            </a:fld>
            <a:endParaRPr lang="en-US" dirty="0"/>
          </a:p>
        </p:txBody>
      </p:sp>
    </p:spTree>
    <p:extLst>
      <p:ext uri="{BB962C8B-B14F-4D97-AF65-F5344CB8AC3E}">
        <p14:creationId xmlns:p14="http://schemas.microsoft.com/office/powerpoint/2010/main" val="1673596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0" y="1524000"/>
            <a:ext cx="8229600" cy="4572000"/>
          </a:xfrm>
        </p:spPr>
        <p:txBody>
          <a:bodyPr>
            <a:normAutofit fontScale="92500" lnSpcReduction="20000"/>
          </a:bodyPr>
          <a:lstStyle/>
          <a:p>
            <a:endParaRPr lang="en-US" dirty="0"/>
          </a:p>
          <a:p>
            <a:pPr>
              <a:spcBef>
                <a:spcPts val="400"/>
              </a:spcBef>
            </a:pPr>
            <a:r>
              <a:rPr lang="en-US" dirty="0"/>
              <a:t>Undervalue of Tumor Biomarkers is a Vicious Cycle:</a:t>
            </a:r>
          </a:p>
          <a:p>
            <a:pPr lvl="1"/>
            <a:r>
              <a:rPr lang="en-US" dirty="0"/>
              <a:t>Marker Utility is Poorly Valued </a:t>
            </a:r>
          </a:p>
          <a:p>
            <a:pPr lvl="1"/>
            <a:r>
              <a:rPr lang="en-US" dirty="0"/>
              <a:t>-&gt; Low Funding for Research </a:t>
            </a:r>
          </a:p>
          <a:p>
            <a:pPr lvl="1"/>
            <a:r>
              <a:rPr lang="en-US" dirty="0"/>
              <a:t>-&gt; Low Level of Evidence </a:t>
            </a:r>
          </a:p>
          <a:p>
            <a:pPr lvl="1"/>
            <a:r>
              <a:rPr lang="en-US" dirty="0"/>
              <a:t>-&gt; Higher Skepticism and Few Recommendations for Clinical Use</a:t>
            </a:r>
          </a:p>
          <a:p>
            <a:pPr lvl="1"/>
            <a:r>
              <a:rPr lang="en-US" dirty="0"/>
              <a:t>-&gt; Marker Utility is Poorly Valued :</a:t>
            </a:r>
          </a:p>
          <a:p>
            <a:endParaRPr lang="en-US" dirty="0"/>
          </a:p>
          <a:p>
            <a:r>
              <a:rPr lang="en-US" dirty="0"/>
              <a:t>Way out of the vicious cycle </a:t>
            </a:r>
          </a:p>
          <a:p>
            <a:pPr lvl="1">
              <a:buFont typeface="Verdana" pitchFamily="34" charset="0"/>
              <a:buChar char="X"/>
            </a:pPr>
            <a:r>
              <a:rPr lang="en-US" dirty="0"/>
              <a:t>Studies of convenience: “I have lunch with a colleague. I happen to have samples in a freezer.  He has an idea for a BM.  We put the two together p&lt;0.05 …” – 98% of BM discovery studies (Ok to generate hypotheses - sometimes)</a:t>
            </a:r>
          </a:p>
          <a:p>
            <a:pPr lvl="1">
              <a:buFont typeface="Wingdings" pitchFamily="2" charset="2"/>
              <a:buChar char="ü"/>
            </a:pPr>
            <a:r>
              <a:rPr lang="en-US" dirty="0"/>
              <a:t>Applying the same level of evidence that are required for drugs to tumor biomarker discovery: Design a prospective start study with protocol and analysis plan of the sort used in drug discovery.</a:t>
            </a:r>
          </a:p>
          <a:p>
            <a:pPr lvl="1"/>
            <a:endParaRPr lang="en-US" dirty="0"/>
          </a:p>
        </p:txBody>
      </p:sp>
      <p:sp>
        <p:nvSpPr>
          <p:cNvPr id="3" name="Text Placeholder 2"/>
          <p:cNvSpPr>
            <a:spLocks noGrp="1"/>
          </p:cNvSpPr>
          <p:nvPr>
            <p:ph type="body" sz="quarter" idx="12"/>
          </p:nvPr>
        </p:nvSpPr>
        <p:spPr/>
        <p:txBody>
          <a:bodyPr>
            <a:normAutofit lnSpcReduction="10000"/>
          </a:bodyPr>
          <a:lstStyle/>
          <a:p>
            <a:r>
              <a:rPr lang="en-US" dirty="0">
                <a:solidFill>
                  <a:schemeClr val="tx1"/>
                </a:solidFill>
              </a:rPr>
              <a:t>Daniel F. Hayes, MD - “A bad tumor marker is as harmful as a bad drug!”</a:t>
            </a:r>
          </a:p>
        </p:txBody>
      </p:sp>
      <p:sp>
        <p:nvSpPr>
          <p:cNvPr id="4" name="Slide Number Placeholder 3"/>
          <p:cNvSpPr>
            <a:spLocks noGrp="1"/>
          </p:cNvSpPr>
          <p:nvPr>
            <p:ph type="sldNum" sz="quarter" idx="4"/>
          </p:nvPr>
        </p:nvSpPr>
        <p:spPr/>
        <p:txBody>
          <a:bodyPr/>
          <a:lstStyle/>
          <a:p>
            <a:fld id="{068A13EE-B1C7-7041-974E-A5C3361A8644}" type="slidenum">
              <a:rPr lang="en-US" smtClean="0"/>
              <a:pPr/>
              <a:t>21</a:t>
            </a:fld>
            <a:endParaRPr lang="en-US" dirty="0"/>
          </a:p>
        </p:txBody>
      </p:sp>
      <p:sp>
        <p:nvSpPr>
          <p:cNvPr id="5" name="Title 4"/>
          <p:cNvSpPr>
            <a:spLocks noGrp="1"/>
          </p:cNvSpPr>
          <p:nvPr>
            <p:ph type="title"/>
          </p:nvPr>
        </p:nvSpPr>
        <p:spPr/>
        <p:txBody>
          <a:bodyPr/>
          <a:lstStyle/>
          <a:p>
            <a:r>
              <a:rPr lang="en-US" dirty="0"/>
              <a:t>"Personalized" Oncology? Approaching Tumor Biomarkers the Same Way We Approach Drugs</a:t>
            </a:r>
          </a:p>
        </p:txBody>
      </p:sp>
    </p:spTree>
    <p:extLst>
      <p:ext uri="{BB962C8B-B14F-4D97-AF65-F5344CB8AC3E}">
        <p14:creationId xmlns:p14="http://schemas.microsoft.com/office/powerpoint/2010/main" val="333082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TMUGS: Levels of Evidence</a:t>
            </a:r>
          </a:p>
        </p:txBody>
      </p:sp>
      <p:sp>
        <p:nvSpPr>
          <p:cNvPr id="3" name="Content Placeholder 2"/>
          <p:cNvSpPr>
            <a:spLocks noGrp="1"/>
          </p:cNvSpPr>
          <p:nvPr>
            <p:ph idx="1"/>
          </p:nvPr>
        </p:nvSpPr>
        <p:spPr/>
        <p:txBody>
          <a:bodyPr>
            <a:normAutofit/>
          </a:bodyPr>
          <a:lstStyle/>
          <a:p>
            <a:pPr marL="514350" indent="-514350">
              <a:buFont typeface="+mj-lt"/>
              <a:buAutoNum type="romanUcPeriod"/>
            </a:pPr>
            <a:r>
              <a:rPr lang="en-US" dirty="0"/>
              <a:t>Prospectively designed studies with written protocol in which the Marker is Primary Objective</a:t>
            </a:r>
          </a:p>
          <a:p>
            <a:pPr marL="514350" indent="-514350">
              <a:buFont typeface="+mj-lt"/>
              <a:buAutoNum type="romanUcPeriod"/>
            </a:pPr>
            <a:r>
              <a:rPr lang="en-US" dirty="0"/>
              <a:t>Prospective, Marker is Secondary Objective</a:t>
            </a:r>
          </a:p>
          <a:p>
            <a:pPr marL="0" indent="0">
              <a:buNone/>
            </a:pPr>
            <a:r>
              <a:rPr lang="en-US" dirty="0"/>
              <a:t>      Most Tumor Marker Studies</a:t>
            </a:r>
          </a:p>
          <a:p>
            <a:pPr marL="514350" indent="-514350">
              <a:buFont typeface="+mj-lt"/>
              <a:buAutoNum type="romanUcPeriod" startAt="3"/>
            </a:pPr>
            <a:r>
              <a:rPr lang="en-US" dirty="0"/>
              <a:t>Retrospective, Outcomes, Multivariate Analysis</a:t>
            </a:r>
          </a:p>
          <a:p>
            <a:pPr marL="514350" indent="-514350">
              <a:buFont typeface="+mj-lt"/>
              <a:buAutoNum type="romanUcPeriod" startAt="3"/>
            </a:pPr>
            <a:r>
              <a:rPr lang="en-US" dirty="0"/>
              <a:t>Retrospective, Outcomes, </a:t>
            </a:r>
            <a:r>
              <a:rPr lang="en-US" dirty="0" err="1"/>
              <a:t>Univariate</a:t>
            </a:r>
            <a:r>
              <a:rPr lang="en-US" dirty="0"/>
              <a:t> Analysis</a:t>
            </a:r>
          </a:p>
          <a:p>
            <a:pPr marL="514350" indent="-514350">
              <a:buFont typeface="+mj-lt"/>
              <a:buAutoNum type="romanUcPeriod" startAt="3"/>
            </a:pPr>
            <a:r>
              <a:rPr lang="en-US" dirty="0"/>
              <a:t>Retrospective, Correlation with Other Market, No Outcomes</a:t>
            </a:r>
          </a:p>
          <a:p>
            <a:pPr marL="0" indent="0">
              <a:buNone/>
            </a:pPr>
            <a:endParaRPr lang="en-US" dirty="0"/>
          </a:p>
          <a:p>
            <a:pPr marL="0" indent="0">
              <a:buNone/>
            </a:pPr>
            <a:r>
              <a:rPr lang="en-US" dirty="0">
                <a:hlinkClick r:id="rId2" action="ppaction://hlinkfile"/>
              </a:rPr>
              <a:t>The prospective-retrospective design using archived specimens.</a:t>
            </a:r>
            <a:endParaRPr lang="en-US" dirty="0"/>
          </a:p>
        </p:txBody>
      </p:sp>
      <p:sp>
        <p:nvSpPr>
          <p:cNvPr id="4" name="Slide Number Placeholder 3"/>
          <p:cNvSpPr>
            <a:spLocks noGrp="1"/>
          </p:cNvSpPr>
          <p:nvPr>
            <p:ph type="sldNum" sz="quarter" idx="4"/>
          </p:nvPr>
        </p:nvSpPr>
        <p:spPr/>
        <p:txBody>
          <a:bodyPr/>
          <a:lstStyle/>
          <a:p>
            <a:fld id="{068A13EE-B1C7-7041-974E-A5C3361A8644}" type="slidenum">
              <a:rPr lang="en-US" smtClean="0"/>
              <a:pPr/>
              <a:t>22</a:t>
            </a:fld>
            <a:endParaRPr lang="en-US" dirty="0"/>
          </a:p>
        </p:txBody>
      </p:sp>
    </p:spTree>
    <p:extLst>
      <p:ext uri="{BB962C8B-B14F-4D97-AF65-F5344CB8AC3E}">
        <p14:creationId xmlns:p14="http://schemas.microsoft.com/office/powerpoint/2010/main" val="175159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Selection and Handling</a:t>
            </a:r>
          </a:p>
        </p:txBody>
      </p:sp>
      <p:sp>
        <p:nvSpPr>
          <p:cNvPr id="3" name="Content Placeholder 2"/>
          <p:cNvSpPr>
            <a:spLocks noGrp="1"/>
          </p:cNvSpPr>
          <p:nvPr>
            <p:ph idx="1"/>
          </p:nvPr>
        </p:nvSpPr>
        <p:spPr/>
        <p:txBody>
          <a:bodyPr/>
          <a:lstStyle/>
          <a:p>
            <a:r>
              <a:rPr lang="en-US" dirty="0"/>
              <a:t>(Un)Common sense examples</a:t>
            </a:r>
          </a:p>
          <a:p>
            <a:pPr lvl="1"/>
            <a:r>
              <a:rPr lang="en-US" dirty="0"/>
              <a:t>Tests should be developed on samples that are </a:t>
            </a:r>
            <a:r>
              <a:rPr lang="en-US" b="1" dirty="0"/>
              <a:t>properly selected from the population </a:t>
            </a:r>
            <a:r>
              <a:rPr lang="en-US" dirty="0"/>
              <a:t>in which the test will be applied.</a:t>
            </a:r>
          </a:p>
          <a:p>
            <a:pPr lvl="1"/>
            <a:r>
              <a:rPr lang="en-US" dirty="0"/>
              <a:t>Sample processing – order, machine, lane, etc. – should be fully specified and optimized where possible.</a:t>
            </a:r>
          </a:p>
          <a:p>
            <a:pPr lvl="1"/>
            <a:r>
              <a:rPr lang="en-US" dirty="0"/>
              <a:t>When data are used to tune how the data are manipulated to arrive at the test results, these data cannot be used to evaluate how the test will perform with other data.</a:t>
            </a:r>
          </a:p>
        </p:txBody>
      </p:sp>
      <p:sp>
        <p:nvSpPr>
          <p:cNvPr id="4" name="Slide Number Placeholder 3"/>
          <p:cNvSpPr>
            <a:spLocks noGrp="1"/>
          </p:cNvSpPr>
          <p:nvPr>
            <p:ph type="sldNum" sz="quarter" idx="4"/>
          </p:nvPr>
        </p:nvSpPr>
        <p:spPr/>
        <p:txBody>
          <a:bodyPr/>
          <a:lstStyle/>
          <a:p>
            <a:fld id="{068A13EE-B1C7-7041-974E-A5C3361A8644}" type="slidenum">
              <a:rPr lang="en-US" smtClean="0"/>
              <a:pPr/>
              <a:t>23</a:t>
            </a:fld>
            <a:endParaRPr lang="en-US" dirty="0"/>
          </a:p>
        </p:txBody>
      </p:sp>
    </p:spTree>
    <p:extLst>
      <p:ext uri="{BB962C8B-B14F-4D97-AF65-F5344CB8AC3E}">
        <p14:creationId xmlns:p14="http://schemas.microsoft.com/office/powerpoint/2010/main" val="4219802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800" b="1" dirty="0"/>
              <a:t>COMMITTEE ON THE REVIEW OF OMICS-BASED TESTS FOR PREDICTING PATIENT OUTCOMES IN CLINICAL TRIALS</a:t>
            </a:r>
            <a:endParaRPr lang="en-US" sz="1800" dirty="0"/>
          </a:p>
        </p:txBody>
      </p:sp>
      <p:sp>
        <p:nvSpPr>
          <p:cNvPr id="4" name="Slide Number Placeholder 3"/>
          <p:cNvSpPr>
            <a:spLocks noGrp="1"/>
          </p:cNvSpPr>
          <p:nvPr>
            <p:ph type="sldNum" sz="quarter" idx="4"/>
          </p:nvPr>
        </p:nvSpPr>
        <p:spPr/>
        <p:txBody>
          <a:bodyPr/>
          <a:lstStyle/>
          <a:p>
            <a:fld id="{068A13EE-B1C7-7041-974E-A5C3361A8644}" type="slidenum">
              <a:rPr lang="en-US" smtClean="0"/>
              <a:pPr/>
              <a:t>24</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28484"/>
            <a:ext cx="5258222" cy="5243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1715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b="0" dirty="0"/>
              <a:t>Sample Tissue Block Descriptions</a:t>
            </a:r>
          </a:p>
        </p:txBody>
      </p:sp>
      <p:sp>
        <p:nvSpPr>
          <p:cNvPr id="4" name="Slide Number Placeholder 3"/>
          <p:cNvSpPr>
            <a:spLocks noGrp="1"/>
          </p:cNvSpPr>
          <p:nvPr>
            <p:ph type="sldNum" sz="quarter" idx="4"/>
          </p:nvPr>
        </p:nvSpPr>
        <p:spPr/>
        <p:txBody>
          <a:bodyPr/>
          <a:lstStyle/>
          <a:p>
            <a:fld id="{068A13EE-B1C7-7041-974E-A5C3361A8644}" type="slidenum">
              <a:rPr lang="en-US" smtClean="0"/>
              <a:pPr/>
              <a:t>25</a:t>
            </a:fld>
            <a:endParaRPr lang="en-US" dirty="0"/>
          </a:p>
        </p:txBody>
      </p:sp>
      <p:sp>
        <p:nvSpPr>
          <p:cNvPr id="5" name="Title 4"/>
          <p:cNvSpPr>
            <a:spLocks noGrp="1"/>
          </p:cNvSpPr>
          <p:nvPr>
            <p:ph type="title"/>
          </p:nvPr>
        </p:nvSpPr>
        <p:spPr/>
        <p:txBody>
          <a:bodyPr/>
          <a:lstStyle/>
          <a:p>
            <a:r>
              <a:rPr lang="en-US" dirty="0"/>
              <a:t>Bias Example 3: GHI Colon Polyps Experiment</a:t>
            </a:r>
          </a:p>
        </p:txBody>
      </p:sp>
      <p:graphicFrame>
        <p:nvGraphicFramePr>
          <p:cNvPr id="7" name="Table 6"/>
          <p:cNvGraphicFramePr>
            <a:graphicFrameLocks noGrp="1"/>
          </p:cNvGraphicFramePr>
          <p:nvPr>
            <p:extLst>
              <p:ext uri="{D42A27DB-BD31-4B8C-83A1-F6EECF244321}">
                <p14:modId xmlns:p14="http://schemas.microsoft.com/office/powerpoint/2010/main" val="2181960472"/>
              </p:ext>
            </p:extLst>
          </p:nvPr>
        </p:nvGraphicFramePr>
        <p:xfrm>
          <a:off x="838200" y="2286000"/>
          <a:ext cx="6934200" cy="147828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312546">
                  <a:extLst>
                    <a:ext uri="{9D8B030D-6E8A-4147-A177-3AD203B41FA5}">
                      <a16:colId xmlns:a16="http://schemas.microsoft.com/office/drawing/2014/main" val="20002"/>
                    </a:ext>
                  </a:extLst>
                </a:gridCol>
                <a:gridCol w="211454">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219200">
                  <a:extLst>
                    <a:ext uri="{9D8B030D-6E8A-4147-A177-3AD203B41FA5}">
                      <a16:colId xmlns:a16="http://schemas.microsoft.com/office/drawing/2014/main" val="20006"/>
                    </a:ext>
                  </a:extLst>
                </a:gridCol>
              </a:tblGrid>
              <a:tr h="218440">
                <a:tc gridSpan="3">
                  <a:txBody>
                    <a:bodyPr/>
                    <a:lstStyle/>
                    <a:p>
                      <a:pPr algn="ctr"/>
                      <a:r>
                        <a:rPr lang="en-US" dirty="0"/>
                        <a:t>Sample</a:t>
                      </a:r>
                      <a:r>
                        <a:rPr lang="en-US" baseline="0" dirty="0"/>
                        <a:t> set 1</a:t>
                      </a:r>
                      <a:endParaRPr lang="en-US" dirty="0"/>
                    </a:p>
                  </a:txBody>
                  <a:tcPr/>
                </a:tc>
                <a:tc hMerge="1">
                  <a:txBody>
                    <a:bodyPr/>
                    <a:lstStyle/>
                    <a:p>
                      <a:pPr algn="ctr"/>
                      <a:endParaRPr lang="en-US" dirty="0"/>
                    </a:p>
                  </a:txBody>
                  <a:tcPr/>
                </a:tc>
                <a:tc hMerge="1">
                  <a:txBody>
                    <a:bodyPr/>
                    <a:lstStyle/>
                    <a:p>
                      <a:pPr algn="ctr"/>
                      <a:endParaRPr lang="en-US" dirty="0"/>
                    </a:p>
                  </a:txBody>
                  <a:tcPr/>
                </a:tc>
                <a:tc>
                  <a:txBody>
                    <a:bodyPr/>
                    <a:lstStyle/>
                    <a:p>
                      <a:pPr algn="ctr"/>
                      <a:endParaRPr lang="en-US" dirty="0"/>
                    </a:p>
                  </a:txBody>
                  <a:tcPr/>
                </a:tc>
                <a:tc gridSpan="3">
                  <a:txBody>
                    <a:bodyPr/>
                    <a:lstStyle/>
                    <a:p>
                      <a:pPr algn="ctr"/>
                      <a:r>
                        <a:rPr lang="en-US" dirty="0"/>
                        <a:t>Sample set 2</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dirty="0"/>
                        <a:t>Year</a:t>
                      </a:r>
                    </a:p>
                  </a:txBody>
                  <a:tcPr/>
                </a:tc>
                <a:tc>
                  <a:txBody>
                    <a:bodyPr/>
                    <a:lstStyle/>
                    <a:p>
                      <a:pPr algn="ctr"/>
                      <a:r>
                        <a:rPr lang="en-US" dirty="0"/>
                        <a:t>Benign</a:t>
                      </a:r>
                    </a:p>
                  </a:txBody>
                  <a:tcPr/>
                </a:tc>
                <a:tc>
                  <a:txBody>
                    <a:bodyPr/>
                    <a:lstStyle/>
                    <a:p>
                      <a:pPr algn="ctr"/>
                      <a:r>
                        <a:rPr lang="en-US" dirty="0"/>
                        <a:t>Cancerous</a:t>
                      </a:r>
                    </a:p>
                  </a:txBody>
                  <a:tcPr/>
                </a:tc>
                <a:tc>
                  <a:txBody>
                    <a:bodyPr/>
                    <a:lstStyle/>
                    <a:p>
                      <a:pPr algn="ctr"/>
                      <a:endParaRPr lang="en-US" dirty="0"/>
                    </a:p>
                  </a:txBody>
                  <a:tcPr/>
                </a:tc>
                <a:tc>
                  <a:txBody>
                    <a:bodyPr/>
                    <a:lstStyle/>
                    <a:p>
                      <a:pPr algn="ctr"/>
                      <a:r>
                        <a:rPr lang="en-US" dirty="0"/>
                        <a:t>Year</a:t>
                      </a:r>
                    </a:p>
                  </a:txBody>
                  <a:tcPr/>
                </a:tc>
                <a:tc>
                  <a:txBody>
                    <a:bodyPr/>
                    <a:lstStyle/>
                    <a:p>
                      <a:pPr algn="ctr"/>
                      <a:r>
                        <a:rPr lang="en-US" dirty="0"/>
                        <a:t>Benign</a:t>
                      </a:r>
                    </a:p>
                  </a:txBody>
                  <a:tcPr/>
                </a:tc>
                <a:tc>
                  <a:txBody>
                    <a:bodyPr/>
                    <a:lstStyle/>
                    <a:p>
                      <a:pPr algn="ctr"/>
                      <a:r>
                        <a:rPr lang="en-US" dirty="0"/>
                        <a:t>Cancerous</a:t>
                      </a:r>
                    </a:p>
                  </a:txBody>
                  <a:tcPr/>
                </a:tc>
                <a:extLst>
                  <a:ext uri="{0D108BD9-81ED-4DB2-BD59-A6C34878D82A}">
                    <a16:rowId xmlns:a16="http://schemas.microsoft.com/office/drawing/2014/main" val="10001"/>
                  </a:ext>
                </a:extLst>
              </a:tr>
              <a:tr h="370840">
                <a:tc>
                  <a:txBody>
                    <a:bodyPr/>
                    <a:lstStyle/>
                    <a:p>
                      <a:pPr algn="ctr"/>
                      <a:r>
                        <a:rPr lang="en-US" dirty="0"/>
                        <a:t>2007</a:t>
                      </a:r>
                    </a:p>
                  </a:txBody>
                  <a:tcPr/>
                </a:tc>
                <a:tc>
                  <a:txBody>
                    <a:bodyPr/>
                    <a:lstStyle/>
                    <a:p>
                      <a:pPr algn="ctr"/>
                      <a:r>
                        <a:rPr lang="en-US" dirty="0"/>
                        <a:t>1</a:t>
                      </a:r>
                    </a:p>
                  </a:txBody>
                  <a:tcPr/>
                </a:tc>
                <a:tc>
                  <a:txBody>
                    <a:bodyPr/>
                    <a:lstStyle/>
                    <a:p>
                      <a:pPr algn="ctr"/>
                      <a:r>
                        <a:rPr lang="en-US" dirty="0"/>
                        <a:t>48</a:t>
                      </a:r>
                    </a:p>
                  </a:txBody>
                  <a:tcPr/>
                </a:tc>
                <a:tc>
                  <a:txBody>
                    <a:bodyPr/>
                    <a:lstStyle/>
                    <a:p>
                      <a:pPr algn="ctr"/>
                      <a:endParaRPr lang="en-US"/>
                    </a:p>
                  </a:txBody>
                  <a:tcPr/>
                </a:tc>
                <a:tc>
                  <a:txBody>
                    <a:bodyPr/>
                    <a:lstStyle/>
                    <a:p>
                      <a:pPr algn="ctr"/>
                      <a:r>
                        <a:rPr lang="en-US" baseline="0" dirty="0"/>
                        <a:t>≤ 2002</a:t>
                      </a:r>
                      <a:endParaRPr lang="en-US" dirty="0"/>
                    </a:p>
                  </a:txBody>
                  <a:tcPr/>
                </a:tc>
                <a:tc>
                  <a:txBody>
                    <a:bodyPr/>
                    <a:lstStyle/>
                    <a:p>
                      <a:pPr algn="ctr"/>
                      <a:r>
                        <a:rPr lang="en-US" dirty="0"/>
                        <a:t>53</a:t>
                      </a:r>
                    </a:p>
                  </a:txBody>
                  <a:tcPr/>
                </a:tc>
                <a:tc>
                  <a:txBody>
                    <a:bodyPr/>
                    <a:lstStyle/>
                    <a:p>
                      <a:pPr algn="ctr"/>
                      <a:r>
                        <a:rPr lang="en-US" dirty="0"/>
                        <a:t>7</a:t>
                      </a:r>
                    </a:p>
                  </a:txBody>
                  <a:tcPr/>
                </a:tc>
                <a:extLst>
                  <a:ext uri="{0D108BD9-81ED-4DB2-BD59-A6C34878D82A}">
                    <a16:rowId xmlns:a16="http://schemas.microsoft.com/office/drawing/2014/main" val="10002"/>
                  </a:ext>
                </a:extLst>
              </a:tr>
              <a:tr h="370840">
                <a:tc>
                  <a:txBody>
                    <a:bodyPr/>
                    <a:lstStyle/>
                    <a:p>
                      <a:pPr algn="ctr"/>
                      <a:r>
                        <a:rPr lang="en-US" dirty="0"/>
                        <a:t>2008</a:t>
                      </a:r>
                    </a:p>
                  </a:txBody>
                  <a:tcPr/>
                </a:tc>
                <a:tc>
                  <a:txBody>
                    <a:bodyPr/>
                    <a:lstStyle/>
                    <a:p>
                      <a:pPr algn="ctr"/>
                      <a:r>
                        <a:rPr lang="en-US" dirty="0"/>
                        <a:t>60</a:t>
                      </a:r>
                    </a:p>
                  </a:txBody>
                  <a:tcPr/>
                </a:tc>
                <a:tc>
                  <a:txBody>
                    <a:bodyPr/>
                    <a:lstStyle/>
                    <a:p>
                      <a:pPr algn="ctr"/>
                      <a:r>
                        <a:rPr lang="en-US" dirty="0"/>
                        <a:t>8</a:t>
                      </a:r>
                    </a:p>
                  </a:txBody>
                  <a:tcPr/>
                </a:tc>
                <a:tc>
                  <a:txBody>
                    <a:bodyPr/>
                    <a:lstStyle/>
                    <a:p>
                      <a:pPr algn="ctr"/>
                      <a:endParaRPr lang="en-US"/>
                    </a:p>
                  </a:txBody>
                  <a:tcPr/>
                </a:tc>
                <a:tc>
                  <a:txBody>
                    <a:bodyPr/>
                    <a:lstStyle/>
                    <a:p>
                      <a:pPr algn="ctr"/>
                      <a:r>
                        <a:rPr lang="en-US" dirty="0"/>
                        <a:t>&gt;</a:t>
                      </a:r>
                      <a:r>
                        <a:rPr lang="en-US" baseline="0" dirty="0"/>
                        <a:t> 2002</a:t>
                      </a:r>
                      <a:endParaRPr lang="en-US" dirty="0"/>
                    </a:p>
                  </a:txBody>
                  <a:tcPr/>
                </a:tc>
                <a:tc>
                  <a:txBody>
                    <a:bodyPr/>
                    <a:lstStyle/>
                    <a:p>
                      <a:pPr algn="ctr"/>
                      <a:r>
                        <a:rPr lang="en-US" dirty="0"/>
                        <a:t>1</a:t>
                      </a:r>
                    </a:p>
                  </a:txBody>
                  <a:tcPr/>
                </a:tc>
                <a:tc>
                  <a:txBody>
                    <a:bodyPr/>
                    <a:lstStyle/>
                    <a:p>
                      <a:pPr algn="ctr"/>
                      <a:r>
                        <a:rPr lang="en-US" dirty="0"/>
                        <a:t>42</a:t>
                      </a: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914400" y="4953000"/>
            <a:ext cx="7216206" cy="923330"/>
          </a:xfrm>
          <a:prstGeom prst="rect">
            <a:avLst/>
          </a:prstGeom>
          <a:noFill/>
        </p:spPr>
        <p:txBody>
          <a:bodyPr wrap="none" rtlCol="0">
            <a:spAutoFit/>
          </a:bodyPr>
          <a:lstStyle/>
          <a:p>
            <a:r>
              <a:rPr lang="en-US" b="1" dirty="0">
                <a:solidFill>
                  <a:schemeClr val="tx2"/>
                </a:solidFill>
              </a:rPr>
              <a:t>In studies based on archival specimens that we obtain from tissue banks, </a:t>
            </a:r>
          </a:p>
          <a:p>
            <a:r>
              <a:rPr lang="en-US" b="1" dirty="0">
                <a:solidFill>
                  <a:schemeClr val="tx2"/>
                </a:solidFill>
              </a:rPr>
              <a:t>or hospitals, how can we exercise more control over the sample selection </a:t>
            </a:r>
          </a:p>
          <a:p>
            <a:r>
              <a:rPr lang="en-US" b="1" dirty="0">
                <a:solidFill>
                  <a:schemeClr val="tx2"/>
                </a:solidFill>
              </a:rPr>
              <a:t>process?</a:t>
            </a:r>
          </a:p>
        </p:txBody>
      </p:sp>
    </p:spTree>
    <p:extLst>
      <p:ext uri="{BB962C8B-B14F-4D97-AF65-F5344CB8AC3E}">
        <p14:creationId xmlns:p14="http://schemas.microsoft.com/office/powerpoint/2010/main" val="26077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Theme">
  <a:themeElements>
    <a:clrScheme name="GHI-May12a">
      <a:dk1>
        <a:srgbClr val="3B3B3B"/>
      </a:dk1>
      <a:lt1>
        <a:sysClr val="window" lastClr="FFFFFF"/>
      </a:lt1>
      <a:dk2>
        <a:srgbClr val="005596"/>
      </a:dk2>
      <a:lt2>
        <a:srgbClr val="EEECE1"/>
      </a:lt2>
      <a:accent1>
        <a:srgbClr val="4F81BD"/>
      </a:accent1>
      <a:accent2>
        <a:srgbClr val="35530D"/>
      </a:accent2>
      <a:accent3>
        <a:srgbClr val="6DB33F"/>
      </a:accent3>
      <a:accent4>
        <a:srgbClr val="642566"/>
      </a:accent4>
      <a:accent5>
        <a:srgbClr val="6A737B"/>
      </a:accent5>
      <a:accent6>
        <a:srgbClr val="F8971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419CF8080D5494D8167F4426BA75C35" ma:contentTypeVersion="2" ma:contentTypeDescription="Create a new document." ma:contentTypeScope="" ma:versionID="80c8693f2c88861bcab776eae57d8881">
  <xsd:schema xmlns:xsd="http://www.w3.org/2001/XMLSchema" xmlns:xs="http://www.w3.org/2001/XMLSchema" xmlns:p="http://schemas.microsoft.com/office/2006/metadata/properties" xmlns:ns1="http://schemas.microsoft.com/sharepoint/v3" targetNamespace="http://schemas.microsoft.com/office/2006/metadata/properties" ma:root="true" ma:fieldsID="a447206dab0015f8b9f8924535193e8c"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E24501-DB92-4307-BB2A-7CB4309328E8}">
  <ds:schemaRefs>
    <ds:schemaRef ds:uri="http://purl.org/dc/terms/"/>
    <ds:schemaRef ds:uri="http://schemas.microsoft.com/office/infopath/2007/PartnerControls"/>
    <ds:schemaRef ds:uri="http://purl.org/dc/elements/1.1/"/>
    <ds:schemaRef ds:uri="http://schemas.microsoft.com/office/2006/documentManagement/types"/>
    <ds:schemaRef ds:uri="http://www.w3.org/XML/1998/namespace"/>
    <ds:schemaRef ds:uri="http://schemas.microsoft.com/sharepoint/v3"/>
    <ds:schemaRef ds:uri="http://purl.org/dc/dcmitype/"/>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9030D2C3-40B4-4D2F-A880-CB55D28695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29D44E-A9E1-4EEA-8B13-3C42B360AF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5724</TotalTime>
  <Words>3113</Words>
  <Application>Microsoft Macintosh PowerPoint</Application>
  <PresentationFormat>On-screen Show (4:3)</PresentationFormat>
  <Paragraphs>305</Paragraphs>
  <Slides>25</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Verdana</vt:lpstr>
      <vt:lpstr>Wingdings</vt:lpstr>
      <vt:lpstr>Office Theme</vt:lpstr>
      <vt:lpstr>Study Design and Analysis Guidelines for Genomic Scale Data</vt:lpstr>
      <vt:lpstr>PowerPoint Presentation</vt:lpstr>
      <vt:lpstr>Evolution of Translational Omics (ETO):  Lessons Learned and the Path Forward Institute of Medicine</vt:lpstr>
      <vt:lpstr>Omics-based test development process.</vt:lpstr>
      <vt:lpstr>Omics-based Model Development Process – Discovery Phase</vt:lpstr>
      <vt:lpstr>ASCO 21012 - New Diagnostics and Devices: Evaluating new technologies for diagnosis and prognosis</vt:lpstr>
      <vt:lpstr>Bias Example 1 – Use of proteomic patterns in serum to identify ovarian cancer</vt:lpstr>
      <vt:lpstr>Bias Example 2: Differential exoprotease activities confer tumor-specific serum peptidome patterns </vt:lpstr>
      <vt:lpstr>Bias Example 3: GHI Colon Polyps Experiment</vt:lpstr>
      <vt:lpstr>Bias Example 4: Affymetrix Genechip profiles find tumor subtypes</vt:lpstr>
      <vt:lpstr>Batch effects, a significant threat to the validity of Omics results</vt:lpstr>
      <vt:lpstr>ETO: Steps to Ensure the Validity of Results</vt:lpstr>
      <vt:lpstr>Computational Model Development: Training - Evaluation Set Separation</vt:lpstr>
      <vt:lpstr>Omics-based Model Development Process – Discovery Phase</vt:lpstr>
      <vt:lpstr>ETO – Best Practices for the discovery phase for Omics-based test development</vt:lpstr>
      <vt:lpstr>References</vt:lpstr>
      <vt:lpstr>References – batch effects</vt:lpstr>
      <vt:lpstr>Extras</vt:lpstr>
      <vt:lpstr>Laying down the foundation for reproducible findings - Summary</vt:lpstr>
      <vt:lpstr>Emerging Omics Data Analysis Techniques</vt:lpstr>
      <vt:lpstr>"Personalized" Oncology? Approaching Tumor Biomarkers the Same Way We Approach Drugs</vt:lpstr>
      <vt:lpstr>TMUGS: Levels of Evidence</vt:lpstr>
      <vt:lpstr>Sample Selection and Handling</vt:lpstr>
      <vt:lpstr>COMMITTEE ON THE REVIEW OF OMICS-BASED TESTS FOR PREDICTING PATIENT OUTCOMES IN CLINICAL TRIALS</vt:lpstr>
      <vt:lpstr>Bias Example 3: GHI Colon Polyps Experiment</vt:lpstr>
    </vt:vector>
  </TitlesOfParts>
  <Company>WCG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Raina Nidhi</dc:creator>
  <cp:lastModifiedBy>FrancoisC Collin</cp:lastModifiedBy>
  <cp:revision>258</cp:revision>
  <cp:lastPrinted>2012-06-19T14:23:54Z</cp:lastPrinted>
  <dcterms:created xsi:type="dcterms:W3CDTF">2012-04-24T17:56:02Z</dcterms:created>
  <dcterms:modified xsi:type="dcterms:W3CDTF">2026-03-14T20:34:16Z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0x0101004419CF8080D5494D8167F4426BA75C35</vt:lpwstr>
  </property>
</Properties>
</file>